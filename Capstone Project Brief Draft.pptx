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0" r:id="rId2"/>
    <p:sldId id="382" r:id="rId3"/>
    <p:sldId id="383" r:id="rId4"/>
    <p:sldId id="400" r:id="rId5"/>
    <p:sldId id="401" r:id="rId6"/>
    <p:sldId id="408" r:id="rId7"/>
    <p:sldId id="405" r:id="rId8"/>
    <p:sldId id="413" r:id="rId9"/>
    <p:sldId id="414" r:id="rId10"/>
    <p:sldId id="409" r:id="rId11"/>
    <p:sldId id="391" r:id="rId12"/>
    <p:sldId id="267" r:id="rId13"/>
    <p:sldId id="319" r:id="rId14"/>
    <p:sldId id="269" r:id="rId15"/>
    <p:sldId id="270" r:id="rId16"/>
    <p:sldId id="3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84AADB-6297-4E8F-BD1A-3E6101AD1958}">
          <p14:sldIdLst>
            <p14:sldId id="280"/>
            <p14:sldId id="382"/>
            <p14:sldId id="383"/>
            <p14:sldId id="400"/>
            <p14:sldId id="401"/>
            <p14:sldId id="408"/>
            <p14:sldId id="405"/>
            <p14:sldId id="413"/>
            <p14:sldId id="414"/>
            <p14:sldId id="409"/>
            <p14:sldId id="391"/>
          </p14:sldIdLst>
        </p14:section>
        <p14:section name="Setting &amp; Hook" id="{E2691773-BF0D-22C4-0F80-E4FBAF00B2E2}">
          <p14:sldIdLst/>
        </p14:section>
        <p14:section name="Rising Insights" id="{4331514E-191F-9A41-2062-1920C6DBC55E}">
          <p14:sldIdLst/>
        </p14:section>
        <p14:section name="Aha Moment" id="{2B85762C-4CCD-616F-72CF-DEAE8F1D2C23}">
          <p14:sldIdLst/>
        </p14:section>
        <p14:section name="Solutions &amp; Next Steps" id="{FC16B87C-9FB6-2D88-9D0D-EA53AF50374E}">
          <p14:sldIdLst/>
        </p14:section>
        <p14:section name="Appendix" id="{2B608382-9D66-DF95-D8FD-DD5E3A68F8D3}">
          <p14:sldIdLst>
            <p14:sldId id="267"/>
            <p14:sldId id="319"/>
            <p14:sldId id="269"/>
            <p14:sldId id="270"/>
            <p14:sldId id="3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57778" autoAdjust="0"/>
  </p:normalViewPr>
  <p:slideViewPr>
    <p:cSldViewPr snapToGrid="0">
      <p:cViewPr varScale="1">
        <p:scale>
          <a:sx n="53" d="100"/>
          <a:sy n="53" d="100"/>
        </p:scale>
        <p:origin x="72" y="6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Without the warning sign</c:v>
                </c:pt>
              </c:strCache>
            </c:strRef>
          </c:tx>
          <c:spPr>
            <a:solidFill>
              <a:srgbClr val="8A99A8"/>
            </a:solidFill>
            <a:effectLst/>
          </c:spPr>
          <c:invertIfNegative val="0"/>
          <c:dLbls>
            <c:numFmt formatCode="0.0&quot;%&quot;" sourceLinked="0"/>
            <c:spPr>
              <a:noFill/>
              <a:ln>
                <a:noFill/>
              </a:ln>
              <a:effectLst/>
            </c:spPr>
            <c:txPr>
              <a:bodyPr/>
              <a:lstStyle/>
              <a:p>
                <a:pPr>
                  <a:defRPr sz="18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Prior credit-bureau delinquency</c:v>
                </c:pt>
                <c:pt idx="1">
                  <c:v>A past installment paid 30+ days late</c:v>
                </c:pt>
                <c:pt idx="2">
                  <c:v>Cash loan financing well above goods price</c:v>
                </c:pt>
              </c:strCache>
            </c:strRef>
          </c:cat>
          <c:val>
            <c:numRef>
              <c:f>Sheet1!$B$2:$B$4</c:f>
              <c:numCache>
                <c:formatCode>General</c:formatCode>
                <c:ptCount val="3"/>
                <c:pt idx="0">
                  <c:v>7.6</c:v>
                </c:pt>
                <c:pt idx="1">
                  <c:v>8</c:v>
                </c:pt>
                <c:pt idx="2">
                  <c:v>7.2</c:v>
                </c:pt>
              </c:numCache>
            </c:numRef>
          </c:val>
          <c:extLst>
            <c:ext xmlns:c16="http://schemas.microsoft.com/office/drawing/2014/chart" uri="{C3380CC4-5D6E-409C-BE32-E72D297353CC}">
              <c16:uniqueId val="{00000000-89CC-47EF-BFC2-1BEF0A8D4D6C}"/>
            </c:ext>
          </c:extLst>
        </c:ser>
        <c:ser>
          <c:idx val="1"/>
          <c:order val="1"/>
          <c:tx>
            <c:strRef>
              <c:f>Sheet1!$C$1</c:f>
              <c:strCache>
                <c:ptCount val="1"/>
                <c:pt idx="0">
                  <c:v>With the warning sign</c:v>
                </c:pt>
              </c:strCache>
            </c:strRef>
          </c:tx>
          <c:spPr>
            <a:solidFill>
              <a:srgbClr val="B83227"/>
            </a:solidFill>
            <a:effectLst/>
          </c:spPr>
          <c:invertIfNegative val="0"/>
          <c:dLbls>
            <c:numFmt formatCode="0.0&quot;%&quot;" sourceLinked="0"/>
            <c:spPr>
              <a:noFill/>
              <a:ln>
                <a:noFill/>
              </a:ln>
              <a:effectLst/>
            </c:spPr>
            <c:txPr>
              <a:bodyPr/>
              <a:lstStyle/>
              <a:p>
                <a:pPr>
                  <a:defRPr sz="18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Prior credit-bureau delinquency</c:v>
                </c:pt>
                <c:pt idx="1">
                  <c:v>A past installment paid 30+ days late</c:v>
                </c:pt>
                <c:pt idx="2">
                  <c:v>Cash loan financing well above goods price</c:v>
                </c:pt>
              </c:strCache>
            </c:strRef>
          </c:cat>
          <c:val>
            <c:numRef>
              <c:f>Sheet1!$C$2:$C$4</c:f>
              <c:numCache>
                <c:formatCode>General</c:formatCode>
                <c:ptCount val="3"/>
                <c:pt idx="0">
                  <c:v>15.8</c:v>
                </c:pt>
                <c:pt idx="1">
                  <c:v>10.5</c:v>
                </c:pt>
                <c:pt idx="2">
                  <c:v>11.6</c:v>
                </c:pt>
              </c:numCache>
            </c:numRef>
          </c:val>
          <c:extLst>
            <c:ext xmlns:c16="http://schemas.microsoft.com/office/drawing/2014/chart" uri="{C3380CC4-5D6E-409C-BE32-E72D297353CC}">
              <c16:uniqueId val="{00000001-89CC-47EF-BFC2-1BEF0A8D4D6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F2933"/>
                </a:solidFill>
                <a:latin typeface="+mn-lt"/>
              </a:defRPr>
            </a:pPr>
            <a:endParaRPr lang="en-US"/>
          </a:p>
        </c:txPr>
        <c:crossAx val="2094734552"/>
        <c:crosses val="autoZero"/>
        <c:auto val="1"/>
        <c:lblAlgn val="ctr"/>
        <c:lblOffset val="100"/>
        <c:noMultiLvlLbl val="1"/>
      </c:catAx>
      <c:valAx>
        <c:axId val="2094734552"/>
        <c:scaling>
          <c:orientation val="minMax"/>
          <c:max val="18"/>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800">
              <a:solidFill>
                <a:srgbClr val="1F29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Ranking accuracy</c:v>
                </c:pt>
              </c:strCache>
            </c:strRef>
          </c:tx>
          <c:spPr>
            <a:solidFill>
              <a:srgbClr val="D9DEE3"/>
            </a:solidFill>
            <a:effectLst/>
          </c:spPr>
          <c:invertIfNegative val="0"/>
          <c:dPt>
            <c:idx val="0"/>
            <c:invertIfNegative val="0"/>
            <c:bubble3D val="0"/>
            <c:extLst>
              <c:ext xmlns:c16="http://schemas.microsoft.com/office/drawing/2014/chart" uri="{C3380CC4-5D6E-409C-BE32-E72D297353CC}">
                <c16:uniqueId val="{00000001-49DB-410D-9231-0D58B937D08D}"/>
              </c:ext>
            </c:extLst>
          </c:dPt>
          <c:dPt>
            <c:idx val="1"/>
            <c:invertIfNegative val="0"/>
            <c:bubble3D val="0"/>
            <c:spPr>
              <a:solidFill>
                <a:srgbClr val="8A99A8"/>
              </a:solidFill>
              <a:effectLst/>
            </c:spPr>
            <c:extLst>
              <c:ext xmlns:c16="http://schemas.microsoft.com/office/drawing/2014/chart" uri="{C3380CC4-5D6E-409C-BE32-E72D297353CC}">
                <c16:uniqueId val="{00000003-49DB-410D-9231-0D58B937D08D}"/>
              </c:ext>
            </c:extLst>
          </c:dPt>
          <c:dPt>
            <c:idx val="2"/>
            <c:invertIfNegative val="0"/>
            <c:bubble3D val="0"/>
            <c:spPr>
              <a:solidFill>
                <a:srgbClr val="8A99A8"/>
              </a:solidFill>
              <a:effectLst/>
            </c:spPr>
            <c:extLst>
              <c:ext xmlns:c16="http://schemas.microsoft.com/office/drawing/2014/chart" uri="{C3380CC4-5D6E-409C-BE32-E72D297353CC}">
                <c16:uniqueId val="{00000005-49DB-410D-9231-0D58B937D08D}"/>
              </c:ext>
            </c:extLst>
          </c:dPt>
          <c:dPt>
            <c:idx val="3"/>
            <c:invertIfNegative val="0"/>
            <c:bubble3D val="0"/>
            <c:spPr>
              <a:solidFill>
                <a:srgbClr val="0F7C80"/>
              </a:solidFill>
              <a:effectLst/>
            </c:spPr>
            <c:extLst>
              <c:ext xmlns:c16="http://schemas.microsoft.com/office/drawing/2014/chart" uri="{C3380CC4-5D6E-409C-BE32-E72D297353CC}">
                <c16:uniqueId val="{00000007-49DB-410D-9231-0D58B937D08D}"/>
              </c:ext>
            </c:extLst>
          </c:dPt>
          <c:dLbls>
            <c:numFmt formatCode="0.000" sourceLinked="0"/>
            <c:spPr>
              <a:noFill/>
              <a:ln>
                <a:noFill/>
              </a:ln>
              <a:effectLst/>
            </c:spPr>
            <c:txPr>
              <a:bodyPr/>
              <a:lstStyle/>
              <a:p>
                <a:pPr>
                  <a:defRPr sz="18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Majority-class baseline</c:v>
                </c:pt>
                <c:pt idx="1">
                  <c:v>Logistic regression (12 fields)</c:v>
                </c:pt>
                <c:pt idx="2">
                  <c:v>Gradient-boosted model: application data only</c:v>
                </c:pt>
                <c:pt idx="3">
                  <c:v>Gradient-boosted model: application + repayment history (selected)</c:v>
                </c:pt>
              </c:strCache>
            </c:strRef>
          </c:cat>
          <c:val>
            <c:numRef>
              <c:f>Sheet1!$B$2:$B$5</c:f>
              <c:numCache>
                <c:formatCode>General</c:formatCode>
                <c:ptCount val="4"/>
                <c:pt idx="0">
                  <c:v>0.5</c:v>
                </c:pt>
                <c:pt idx="1">
                  <c:v>0.73299999999999998</c:v>
                </c:pt>
                <c:pt idx="2">
                  <c:v>0.751</c:v>
                </c:pt>
                <c:pt idx="3">
                  <c:v>0.76600000000000001</c:v>
                </c:pt>
              </c:numCache>
            </c:numRef>
          </c:val>
          <c:extLst>
            <c:ext xmlns:c16="http://schemas.microsoft.com/office/drawing/2014/chart" uri="{C3380CC4-5D6E-409C-BE32-E72D297353CC}">
              <c16:uniqueId val="{00000008-49DB-410D-9231-0D58B937D08D}"/>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1F2933"/>
                </a:solidFill>
                <a:latin typeface="+mn-lt"/>
              </a:defRPr>
            </a:pPr>
            <a:endParaRPr lang="en-US"/>
          </a:p>
        </c:txPr>
        <c:crossAx val="2094734552"/>
        <c:crosses val="autoZero"/>
        <c:auto val="1"/>
        <c:lblAlgn val="ctr"/>
        <c:lblOffset val="100"/>
        <c:noMultiLvlLbl val="1"/>
      </c:catAx>
      <c:valAx>
        <c:axId val="2094734552"/>
        <c:scaling>
          <c:orientation val="minMax"/>
          <c:max val="0.9"/>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predictive weight</c:v>
                </c:pt>
              </c:strCache>
            </c:strRef>
          </c:tx>
          <c:spPr>
            <a:solidFill>
              <a:srgbClr val="1B2A41"/>
            </a:solidFill>
            <a:effectLst/>
          </c:spPr>
          <c:invertIfNegative val="0"/>
          <c:dLbls>
            <c:numFmt formatCode="0&quot;%&quot;" sourceLinked="0"/>
            <c:spPr>
              <a:noFill/>
              <a:ln>
                <a:noFill/>
              </a:ln>
              <a:effectLst/>
            </c:spPr>
            <c:txPr>
              <a:bodyPr/>
              <a:lstStyle/>
              <a:p>
                <a:pPr>
                  <a:defRPr sz="18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External credit scores</c:v>
                </c:pt>
                <c:pt idx="1">
                  <c:v>Repayment &amp; credit history</c:v>
                </c:pt>
                <c:pt idx="2">
                  <c:v>Other application details</c:v>
                </c:pt>
                <c:pt idx="3">
                  <c:v>Affordability &amp; loan size</c:v>
                </c:pt>
                <c:pt idx="4">
                  <c:v>Employment, phone &amp; registration</c:v>
                </c:pt>
              </c:strCache>
            </c:strRef>
          </c:cat>
          <c:val>
            <c:numRef>
              <c:f>Sheet1!$B$2:$B$6</c:f>
              <c:numCache>
                <c:formatCode>General</c:formatCode>
                <c:ptCount val="5"/>
                <c:pt idx="0">
                  <c:v>45</c:v>
                </c:pt>
                <c:pt idx="1">
                  <c:v>22</c:v>
                </c:pt>
                <c:pt idx="2">
                  <c:v>13</c:v>
                </c:pt>
                <c:pt idx="3">
                  <c:v>13</c:v>
                </c:pt>
                <c:pt idx="4">
                  <c:v>7</c:v>
                </c:pt>
              </c:numCache>
            </c:numRef>
          </c:val>
          <c:extLst>
            <c:ext xmlns:c16="http://schemas.microsoft.com/office/drawing/2014/chart" uri="{C3380CC4-5D6E-409C-BE32-E72D297353CC}">
              <c16:uniqueId val="{0000000A-A3D6-4FB6-9938-BC4C4453190E}"/>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1F2933"/>
                </a:solidFill>
                <a:latin typeface="+mn-lt"/>
              </a:defRPr>
            </a:pPr>
            <a:endParaRPr lang="en-US"/>
          </a:p>
        </c:txPr>
        <c:crossAx val="2094734552"/>
        <c:crosses val="autoZero"/>
        <c:auto val="1"/>
        <c:lblAlgn val="ctr"/>
        <c:lblOffset val="100"/>
        <c:noMultiLvlLbl val="1"/>
      </c:catAx>
      <c:valAx>
        <c:axId val="2094734552"/>
        <c:scaling>
          <c:orientation val="minMax"/>
          <c:max val="5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Observed payment-difficulty rate</c:v>
                </c:pt>
              </c:strCache>
            </c:strRef>
          </c:tx>
          <c:spPr>
            <a:solidFill>
              <a:srgbClr val="2E7D32"/>
            </a:solidFill>
            <a:effectLst/>
          </c:spPr>
          <c:invertIfNegative val="0"/>
          <c:dPt>
            <c:idx val="0"/>
            <c:invertIfNegative val="0"/>
            <c:bubble3D val="0"/>
            <c:extLst>
              <c:ext xmlns:c16="http://schemas.microsoft.com/office/drawing/2014/chart" uri="{C3380CC4-5D6E-409C-BE32-E72D297353CC}">
                <c16:uniqueId val="{00000001-36A7-42A7-B902-AC95B077C664}"/>
              </c:ext>
            </c:extLst>
          </c:dPt>
          <c:dPt>
            <c:idx val="1"/>
            <c:invertIfNegative val="0"/>
            <c:bubble3D val="0"/>
            <c:extLst>
              <c:ext xmlns:c16="http://schemas.microsoft.com/office/drawing/2014/chart" uri="{C3380CC4-5D6E-409C-BE32-E72D297353CC}">
                <c16:uniqueId val="{00000003-36A7-42A7-B902-AC95B077C664}"/>
              </c:ext>
            </c:extLst>
          </c:dPt>
          <c:dPt>
            <c:idx val="2"/>
            <c:invertIfNegative val="0"/>
            <c:bubble3D val="0"/>
            <c:extLst>
              <c:ext xmlns:c16="http://schemas.microsoft.com/office/drawing/2014/chart" uri="{C3380CC4-5D6E-409C-BE32-E72D297353CC}">
                <c16:uniqueId val="{00000005-36A7-42A7-B902-AC95B077C664}"/>
              </c:ext>
            </c:extLst>
          </c:dPt>
          <c:dPt>
            <c:idx val="3"/>
            <c:invertIfNegative val="0"/>
            <c:bubble3D val="0"/>
            <c:spPr>
              <a:solidFill>
                <a:srgbClr val="8A99A8"/>
              </a:solidFill>
              <a:effectLst/>
            </c:spPr>
            <c:extLst>
              <c:ext xmlns:c16="http://schemas.microsoft.com/office/drawing/2014/chart" uri="{C3380CC4-5D6E-409C-BE32-E72D297353CC}">
                <c16:uniqueId val="{00000007-36A7-42A7-B902-AC95B077C664}"/>
              </c:ext>
            </c:extLst>
          </c:dPt>
          <c:dPt>
            <c:idx val="4"/>
            <c:invertIfNegative val="0"/>
            <c:bubble3D val="0"/>
            <c:spPr>
              <a:solidFill>
                <a:srgbClr val="8A99A8"/>
              </a:solidFill>
              <a:effectLst/>
            </c:spPr>
            <c:extLst>
              <c:ext xmlns:c16="http://schemas.microsoft.com/office/drawing/2014/chart" uri="{C3380CC4-5D6E-409C-BE32-E72D297353CC}">
                <c16:uniqueId val="{00000009-36A7-42A7-B902-AC95B077C664}"/>
              </c:ext>
            </c:extLst>
          </c:dPt>
          <c:dPt>
            <c:idx val="5"/>
            <c:invertIfNegative val="0"/>
            <c:bubble3D val="0"/>
            <c:spPr>
              <a:solidFill>
                <a:srgbClr val="8A99A8"/>
              </a:solidFill>
              <a:effectLst/>
            </c:spPr>
            <c:extLst>
              <c:ext xmlns:c16="http://schemas.microsoft.com/office/drawing/2014/chart" uri="{C3380CC4-5D6E-409C-BE32-E72D297353CC}">
                <c16:uniqueId val="{0000000B-36A7-42A7-B902-AC95B077C664}"/>
              </c:ext>
            </c:extLst>
          </c:dPt>
          <c:dPt>
            <c:idx val="6"/>
            <c:invertIfNegative val="0"/>
            <c:bubble3D val="0"/>
            <c:spPr>
              <a:solidFill>
                <a:srgbClr val="8A99A8"/>
              </a:solidFill>
              <a:effectLst/>
            </c:spPr>
            <c:extLst>
              <c:ext xmlns:c16="http://schemas.microsoft.com/office/drawing/2014/chart" uri="{C3380CC4-5D6E-409C-BE32-E72D297353CC}">
                <c16:uniqueId val="{0000000D-36A7-42A7-B902-AC95B077C664}"/>
              </c:ext>
            </c:extLst>
          </c:dPt>
          <c:dPt>
            <c:idx val="7"/>
            <c:invertIfNegative val="0"/>
            <c:bubble3D val="0"/>
            <c:spPr>
              <a:solidFill>
                <a:srgbClr val="8A99A8"/>
              </a:solidFill>
              <a:effectLst/>
            </c:spPr>
            <c:extLst>
              <c:ext xmlns:c16="http://schemas.microsoft.com/office/drawing/2014/chart" uri="{C3380CC4-5D6E-409C-BE32-E72D297353CC}">
                <c16:uniqueId val="{0000000F-36A7-42A7-B902-AC95B077C664}"/>
              </c:ext>
            </c:extLst>
          </c:dPt>
          <c:dPt>
            <c:idx val="8"/>
            <c:invertIfNegative val="0"/>
            <c:bubble3D val="0"/>
            <c:spPr>
              <a:solidFill>
                <a:srgbClr val="8A99A8"/>
              </a:solidFill>
              <a:effectLst/>
            </c:spPr>
            <c:extLst>
              <c:ext xmlns:c16="http://schemas.microsoft.com/office/drawing/2014/chart" uri="{C3380CC4-5D6E-409C-BE32-E72D297353CC}">
                <c16:uniqueId val="{00000011-36A7-42A7-B902-AC95B077C664}"/>
              </c:ext>
            </c:extLst>
          </c:dPt>
          <c:dPt>
            <c:idx val="9"/>
            <c:invertIfNegative val="0"/>
            <c:bubble3D val="0"/>
            <c:spPr>
              <a:solidFill>
                <a:srgbClr val="B83227"/>
              </a:solidFill>
              <a:effectLst/>
            </c:spPr>
            <c:extLst>
              <c:ext xmlns:c16="http://schemas.microsoft.com/office/drawing/2014/chart" uri="{C3380CC4-5D6E-409C-BE32-E72D297353CC}">
                <c16:uniqueId val="{00000013-36A7-42A7-B902-AC95B077C664}"/>
              </c:ext>
            </c:extLst>
          </c:dPt>
          <c:dLbls>
            <c:numFmt formatCode="0.0&quot;%&quot;" sourceLinked="0"/>
            <c:spPr>
              <a:noFill/>
              <a:ln>
                <a:noFill/>
              </a:ln>
              <a:effectLst/>
            </c:spPr>
            <c:txPr>
              <a:bodyPr/>
              <a:lstStyle/>
              <a:p>
                <a:pPr>
                  <a:defRPr sz="18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1.1000000000000001</c:v>
                </c:pt>
                <c:pt idx="1">
                  <c:v>1.97</c:v>
                </c:pt>
                <c:pt idx="2">
                  <c:v>2.7</c:v>
                </c:pt>
                <c:pt idx="3">
                  <c:v>3.48</c:v>
                </c:pt>
                <c:pt idx="4">
                  <c:v>4.4400000000000004</c:v>
                </c:pt>
                <c:pt idx="5">
                  <c:v>5.74</c:v>
                </c:pt>
                <c:pt idx="6">
                  <c:v>7.62</c:v>
                </c:pt>
                <c:pt idx="7">
                  <c:v>10.68</c:v>
                </c:pt>
                <c:pt idx="8">
                  <c:v>14.73</c:v>
                </c:pt>
                <c:pt idx="9">
                  <c:v>28.28</c:v>
                </c:pt>
              </c:numCache>
            </c:numRef>
          </c:val>
          <c:extLst>
            <c:ext xmlns:c16="http://schemas.microsoft.com/office/drawing/2014/chart" uri="{C3380CC4-5D6E-409C-BE32-E72D297353CC}">
              <c16:uniqueId val="{00000014-36A7-42A7-B902-AC95B077C664}"/>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800" b="0" i="0" u="none" strike="noStrike">
                    <a:solidFill>
                      <a:srgbClr val="1F2933"/>
                    </a:solidFill>
                    <a:latin typeface="+mn-lt"/>
                  </a:defRPr>
                </a:pPr>
                <a:r>
                  <a:rPr lang="en-US" sz="1800" b="0" i="0" u="none" strike="noStrike">
                    <a:solidFill>
                      <a:srgbClr val="1F2933"/>
                    </a:solidFill>
                    <a:latin typeface="+mn-lt"/>
                  </a:rPr>
                  <a:t>Applicant score decile (1 = safest, 10 = riskiest)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F2933"/>
                </a:solidFill>
                <a:latin typeface="+mn-lt"/>
              </a:defRPr>
            </a:pPr>
            <a:endParaRPr lang="en-US"/>
          </a:p>
        </c:txPr>
        <c:crossAx val="2094734552"/>
        <c:crosses val="autoZero"/>
        <c:auto val="1"/>
        <c:lblAlgn val="ctr"/>
        <c:lblOffset val="100"/>
        <c:noMultiLvlLbl val="1"/>
      </c:catAx>
      <c:valAx>
        <c:axId val="2094734552"/>
        <c:scaling>
          <c:orientation val="minMax"/>
          <c:max val="3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Ranking accuracy</c:v>
                </c:pt>
              </c:strCache>
            </c:strRef>
          </c:tx>
          <c:spPr>
            <a:solidFill>
              <a:srgbClr val="0F7C80"/>
            </a:solidFill>
            <a:effectLst/>
          </c:spPr>
          <c:invertIfNegative val="0"/>
          <c:dPt>
            <c:idx val="0"/>
            <c:invertIfNegative val="0"/>
            <c:bubble3D val="0"/>
            <c:extLst>
              <c:ext xmlns:c16="http://schemas.microsoft.com/office/drawing/2014/chart" uri="{C3380CC4-5D6E-409C-BE32-E72D297353CC}">
                <c16:uniqueId val="{00000001-A59B-443C-B627-9262AC62FD12}"/>
              </c:ext>
            </c:extLst>
          </c:dPt>
          <c:dPt>
            <c:idx val="1"/>
            <c:invertIfNegative val="0"/>
            <c:bubble3D val="0"/>
            <c:spPr>
              <a:solidFill>
                <a:srgbClr val="8A99A8"/>
              </a:solidFill>
              <a:effectLst/>
            </c:spPr>
            <c:extLst>
              <c:ext xmlns:c16="http://schemas.microsoft.com/office/drawing/2014/chart" uri="{C3380CC4-5D6E-409C-BE32-E72D297353CC}">
                <c16:uniqueId val="{00000003-A59B-443C-B627-9262AC62FD12}"/>
              </c:ext>
            </c:extLst>
          </c:dPt>
          <c:dPt>
            <c:idx val="2"/>
            <c:invertIfNegative val="0"/>
            <c:bubble3D val="0"/>
            <c:spPr>
              <a:solidFill>
                <a:srgbClr val="8A99A8"/>
              </a:solidFill>
              <a:effectLst/>
            </c:spPr>
            <c:extLst>
              <c:ext xmlns:c16="http://schemas.microsoft.com/office/drawing/2014/chart" uri="{C3380CC4-5D6E-409C-BE32-E72D297353CC}">
                <c16:uniqueId val="{00000005-A59B-443C-B627-9262AC62FD12}"/>
              </c:ext>
            </c:extLst>
          </c:dPt>
          <c:dPt>
            <c:idx val="3"/>
            <c:invertIfNegative val="0"/>
            <c:bubble3D val="0"/>
            <c:spPr>
              <a:solidFill>
                <a:srgbClr val="8A99A8"/>
              </a:solidFill>
              <a:effectLst/>
            </c:spPr>
            <c:extLst>
              <c:ext xmlns:c16="http://schemas.microsoft.com/office/drawing/2014/chart" uri="{C3380CC4-5D6E-409C-BE32-E72D297353CC}">
                <c16:uniqueId val="{00000007-A59B-443C-B627-9262AC62FD12}"/>
              </c:ext>
            </c:extLst>
          </c:dPt>
          <c:dPt>
            <c:idx val="4"/>
            <c:invertIfNegative val="0"/>
            <c:bubble3D val="0"/>
            <c:spPr>
              <a:solidFill>
                <a:srgbClr val="8A99A8"/>
              </a:solidFill>
              <a:effectLst/>
            </c:spPr>
            <c:extLst>
              <c:ext xmlns:c16="http://schemas.microsoft.com/office/drawing/2014/chart" uri="{C3380CC4-5D6E-409C-BE32-E72D297353CC}">
                <c16:uniqueId val="{00000009-A59B-443C-B627-9262AC62FD12}"/>
              </c:ext>
            </c:extLst>
          </c:dPt>
          <c:dLbls>
            <c:numFmt formatCode="0.000" sourceLinked="0"/>
            <c:spPr>
              <a:noFill/>
              <a:ln>
                <a:noFill/>
              </a:ln>
              <a:effectLst/>
            </c:spPr>
            <c:txPr>
              <a:bodyPr/>
              <a:lstStyle/>
              <a:p>
                <a:pPr>
                  <a:defRPr sz="18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 adjustment (kept)</c:v>
                </c:pt>
                <c:pt idx="1">
                  <c:v>Synthetic oversampling (SMOTE)</c:v>
                </c:pt>
                <c:pt idx="2">
                  <c:v>Weighting rare cases ×11.4</c:v>
                </c:pt>
                <c:pt idx="3">
                  <c:v>Tuned on 5K sample</c:v>
                </c:pt>
                <c:pt idx="4">
                  <c:v>Downsampling majority</c:v>
                </c:pt>
              </c:strCache>
            </c:strRef>
          </c:cat>
          <c:val>
            <c:numRef>
              <c:f>Sheet1!$B$2:$B$6</c:f>
              <c:numCache>
                <c:formatCode>General</c:formatCode>
                <c:ptCount val="5"/>
                <c:pt idx="0">
                  <c:v>0.76570000000000005</c:v>
                </c:pt>
                <c:pt idx="1">
                  <c:v>0.76419999999999999</c:v>
                </c:pt>
                <c:pt idx="2">
                  <c:v>0.76290000000000002</c:v>
                </c:pt>
                <c:pt idx="3">
                  <c:v>0.76219999999999999</c:v>
                </c:pt>
                <c:pt idx="4">
                  <c:v>0.76200000000000001</c:v>
                </c:pt>
              </c:numCache>
            </c:numRef>
          </c:val>
          <c:extLst>
            <c:ext xmlns:c16="http://schemas.microsoft.com/office/drawing/2014/chart" uri="{C3380CC4-5D6E-409C-BE32-E72D297353CC}">
              <c16:uniqueId val="{0000000A-A59B-443C-B627-9262AC62FD1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1F2933"/>
                </a:solidFill>
                <a:latin typeface="+mn-lt"/>
              </a:defRPr>
            </a:pPr>
            <a:endParaRPr lang="en-US"/>
          </a:p>
        </c:txPr>
        <c:crossAx val="2094734552"/>
        <c:crosses val="autoZero"/>
        <c:auto val="1"/>
        <c:lblAlgn val="ctr"/>
        <c:lblOffset val="100"/>
        <c:noMultiLvlLbl val="1"/>
      </c:catAx>
      <c:valAx>
        <c:axId val="2094734552"/>
        <c:scaling>
          <c:orientation val="minMax"/>
          <c:max val="0.77500000000000002"/>
          <c:min val="0.74"/>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8A99A8"/>
            </a:solidFill>
            <a:ln>
              <a:noFill/>
            </a:ln>
          </c:spPr>
          <c:invertIfNegative val="1"/>
          <c:dPt>
            <c:idx val="0"/>
            <c:invertIfNegative val="0"/>
            <c:bubble3D val="0"/>
            <c:spPr>
              <a:solidFill>
                <a:srgbClr val="B83227"/>
              </a:solidFill>
            </c:spPr>
            <c:extLst>
              <c:ext xmlns:c16="http://schemas.microsoft.com/office/drawing/2014/chart" uri="{C3380CC4-5D6E-409C-BE32-E72D297353CC}">
                <c16:uniqueId val="{00000001-C8C4-4207-8513-F870D8598ECC}"/>
              </c:ext>
            </c:extLst>
          </c:dPt>
          <c:dPt>
            <c:idx val="1"/>
            <c:invertIfNegative val="0"/>
            <c:bubble3D val="0"/>
            <c:spPr>
              <a:solidFill>
                <a:srgbClr val="8A99A8"/>
              </a:solidFill>
            </c:spPr>
            <c:extLst>
              <c:ext xmlns:c16="http://schemas.microsoft.com/office/drawing/2014/chart" uri="{C3380CC4-5D6E-409C-BE32-E72D297353CC}">
                <c16:uniqueId val="{00000003-C8C4-4207-8513-F870D8598ECC}"/>
              </c:ext>
            </c:extLst>
          </c:dPt>
          <c:dPt>
            <c:idx val="2"/>
            <c:invertIfNegative val="0"/>
            <c:bubble3D val="0"/>
            <c:spPr>
              <a:solidFill>
                <a:srgbClr val="8A99A8"/>
              </a:solidFill>
            </c:spPr>
            <c:extLst>
              <c:ext xmlns:c16="http://schemas.microsoft.com/office/drawing/2014/chart" uri="{C3380CC4-5D6E-409C-BE32-E72D297353CC}">
                <c16:uniqueId val="{00000005-C8C4-4207-8513-F870D8598ECC}"/>
              </c:ext>
            </c:extLst>
          </c:dPt>
          <c:dPt>
            <c:idx val="3"/>
            <c:invertIfNegative val="0"/>
            <c:bubble3D val="0"/>
            <c:spPr>
              <a:solidFill>
                <a:srgbClr val="2E7D32"/>
              </a:solidFill>
            </c:spPr>
            <c:extLst>
              <c:ext xmlns:c16="http://schemas.microsoft.com/office/drawing/2014/chart" uri="{C3380CC4-5D6E-409C-BE32-E72D297353CC}">
                <c16:uniqueId val="{00000007-C8C4-4207-8513-F870D8598ECC}"/>
              </c:ext>
            </c:extLst>
          </c:dPt>
          <c:dPt>
            <c:idx val="4"/>
            <c:invertIfNegative val="0"/>
            <c:bubble3D val="0"/>
            <c:spPr>
              <a:solidFill>
                <a:srgbClr val="2E7D32"/>
              </a:solidFill>
            </c:spPr>
            <c:extLst>
              <c:ext xmlns:c16="http://schemas.microsoft.com/office/drawing/2014/chart" uri="{C3380CC4-5D6E-409C-BE32-E72D297353CC}">
                <c16:uniqueId val="{00000009-C8C4-4207-8513-F870D8598ECC}"/>
              </c:ext>
            </c:extLst>
          </c:dPt>
          <c:dLbls>
            <c:numFmt formatCode="0.0&quot;%&quot;" sourceLinked="0"/>
            <c:spPr>
              <a:noFill/>
              <a:ln>
                <a:noFill/>
              </a:ln>
              <a:effectLst/>
            </c:spPr>
            <c:txPr>
              <a:bodyPr wrap="none"/>
              <a:lstStyle/>
              <a:p>
                <a:pPr>
                  <a:defRPr sz="1400" b="1">
                    <a:solidFill>
                      <a:srgbClr val="1F29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5"/>
              <c:pt idx="0">
                <c:v>Prior bureau delinquency</c:v>
              </c:pt>
              <c:pt idx="1">
                <c:v>No bureau record (44,021)</c:v>
              </c:pt>
              <c:pt idx="2">
                <c:v>All applicants (average)</c:v>
              </c:pt>
              <c:pt idx="3">
                <c:v>Bureau history, no delinquency</c:v>
              </c:pt>
              <c:pt idx="4">
                <c:v>No credit history (~2,200 applicants)</c:v>
              </c:pt>
            </c:strLit>
          </c:cat>
          <c:val>
            <c:numLit>
              <c:formatCode>General</c:formatCode>
              <c:ptCount val="5"/>
              <c:pt idx="0">
                <c:v>15.8</c:v>
              </c:pt>
              <c:pt idx="1">
                <c:v>10.1</c:v>
              </c:pt>
              <c:pt idx="2">
                <c:v>8.1</c:v>
              </c:pt>
              <c:pt idx="3">
                <c:v>7.6</c:v>
              </c:pt>
              <c:pt idx="4">
                <c:v>7.1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471-4B25-A7B1-1150861BA925}"/>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7CACC"/>
            </a:solidFill>
          </a:ln>
        </c:spPr>
        <c:txPr>
          <a:bodyPr rot="0" vert="horz"/>
          <a:lstStyle/>
          <a:p>
            <a:pPr>
              <a:defRPr sz="1400" b="0">
                <a:solidFill>
                  <a:srgbClr val="1F2933"/>
                </a:solidFill>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7FCF1C-29E6-4E38-A762-6C7403DD8C0D}"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97021B-6F92-49D8-B9D7-7151A4AFB97C}" type="slidenum">
              <a:rPr lang="en-US" smtClean="0"/>
              <a:t>‹#›</a:t>
            </a:fld>
            <a:endParaRPr lang="en-US"/>
          </a:p>
        </p:txBody>
      </p:sp>
    </p:spTree>
    <p:extLst>
      <p:ext uri="{BB962C8B-B14F-4D97-AF65-F5344CB8AC3E}">
        <p14:creationId xmlns:p14="http://schemas.microsoft.com/office/powerpoint/2010/main" val="256001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E0659F-3E19-A049-AC1A-FB6BFDC66573}" type="slidenum">
              <a:rPr lang="en-US" altLang="en-US" smtClean="0"/>
              <a:pPr/>
              <a:t>1</a:t>
            </a:fld>
            <a:endParaRPr lang="en-US" altLang="en-US" dirty="0"/>
          </a:p>
        </p:txBody>
      </p:sp>
    </p:spTree>
    <p:extLst>
      <p:ext uri="{BB962C8B-B14F-4D97-AF65-F5344CB8AC3E}">
        <p14:creationId xmlns:p14="http://schemas.microsoft.com/office/powerpoint/2010/main" val="858152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a:t>
            </a:r>
          </a:p>
          <a:p>
            <a:r>
              <a:rPr lang="en-US" dirty="0"/>
              <a:t>Good afternoon. I’m Alejo Sanchez. </a:t>
            </a:r>
          </a:p>
          <a:p>
            <a:r>
              <a:rPr lang="en-US" dirty="0"/>
              <a:t>Today I’ll show how combining alternative and traditional information predicts payment risk, what that’s worth to Home Credit, and one decision I’ll ask you to make.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a:t>
            </a:r>
          </a:p>
          <a:p>
            <a:r>
              <a:rPr lang="en-US" dirty="0"/>
              <a:t>Home Credit’s mission is to lend to people with little or no credit history, and that carries risk. 8% of our borrowers had payment difficulty: about 8,000 borrowers per 100,000 applications and 2.4 billion in losses on those loans.</a:t>
            </a:r>
          </a:p>
          <a:p>
            <a:r>
              <a:rPr lang="en-US" dirty="0"/>
              <a:t>One in 7 borrowers have no credit-bureau record, yet about 9 in 10 of them repaid. </a:t>
            </a:r>
          </a:p>
          <a:p>
            <a:r>
              <a:rPr lang="en-US" dirty="0"/>
              <a:t>A bureau-based score can’t tell us which 9, so we judge the whole group on the same thin information.</a:t>
            </a:r>
          </a:p>
          <a:p>
            <a:r>
              <a:rPr lang="en-US" dirty="0"/>
              <a:t>Lending to them less isn’t the answer. Declining them all would cost about 300 million net per 100,000 applications: nine good customers lost for every problem avoided.</a:t>
            </a:r>
          </a:p>
          <a:p>
            <a:r>
              <a:rPr lang="en-US" dirty="0"/>
              <a:t>So the question is: can we tell them apart using what we already have — the application, the external scores, and how customers repaid our own past loans?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a:t>
            </a:r>
          </a:p>
          <a:p>
            <a:r>
              <a:rPr lang="en-US" dirty="0"/>
              <a:t>History is a big part of the answer. Bad history is a strong signal: a past bureau delinquency doubles the payment-difficulty rate, 15.8% versus 7.6%. </a:t>
            </a:r>
          </a:p>
          <a:p>
            <a:r>
              <a:rPr lang="en-US" dirty="0"/>
              <a:t>Our own data adds more. </a:t>
            </a:r>
          </a:p>
          <a:p>
            <a:r>
              <a:rPr lang="en-US" dirty="0"/>
              <a:t>Borrowers who once paid us 30 days late ran at 10.5%, versus 8%. </a:t>
            </a:r>
          </a:p>
          <a:p>
            <a:r>
              <a:rPr lang="en-US" dirty="0"/>
              <a:t>And cash loans financed well above the price of the goods ran at 11.6%, versus about 7%.</a:t>
            </a:r>
          </a:p>
          <a:p>
            <a:r>
              <a:rPr lang="en-US" dirty="0"/>
              <a:t>Missing history is different. No bureau record ran at 10.1%, and 9 in 10 still repaid. </a:t>
            </a:r>
          </a:p>
          <a:p>
            <a:r>
              <a:rPr lang="en-US" dirty="0"/>
              <a:t>Missing history isn’t bad history. So we built a score that uses both kinds of history.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a:t>
            </a:r>
          </a:p>
          <a:p>
            <a:r>
              <a:rPr lang="en-US" dirty="0"/>
              <a:t>How well does the score tell borrowers apart? </a:t>
            </a:r>
          </a:p>
          <a:p>
            <a:pPr rtl="0"/>
            <a:r>
              <a:rPr lang="en-US" dirty="0"/>
              <a:t>Each bar is a model: a different way of turning what we know about an applicant into a risk score. </a:t>
            </a:r>
          </a:p>
          <a:p>
            <a:pPr rtl="0"/>
            <a:r>
              <a:rPr lang="en-US" dirty="0"/>
              <a:t>We tested several to find the one that best separates borrowers who repay from those who struggle. </a:t>
            </a:r>
          </a:p>
          <a:p>
            <a:pPr rtl="0"/>
            <a:r>
              <a:rPr lang="en-US" dirty="0"/>
              <a:t>That’s what lets us approve good applicants and catch risky ones.</a:t>
            </a:r>
          </a:p>
          <a:p>
            <a:pPr rtl="0"/>
            <a:r>
              <a:rPr lang="en-US" dirty="0"/>
              <a:t>We measure that with ranking accuracy. </a:t>
            </a:r>
          </a:p>
          <a:p>
            <a:pPr rtl="0"/>
            <a:r>
              <a:rPr lang="en-US" dirty="0"/>
              <a:t>Pick one borrower who struggled and one who repaid: how often does the score rate the one who struggled as riskier?</a:t>
            </a:r>
          </a:p>
          <a:p>
            <a:pPr rtl="0"/>
            <a:r>
              <a:rPr lang="en-US" dirty="0"/>
              <a:t>Assuming everyone repays is 92% accurate but scores 0.50, no better than chance, because it can’t tell anyone apart. </a:t>
            </a:r>
          </a:p>
          <a:p>
            <a:pPr rtl="0"/>
            <a:r>
              <a:rPr lang="en-US" dirty="0"/>
              <a:t>A basic model reaches 0.733. </a:t>
            </a:r>
          </a:p>
          <a:p>
            <a:pPr rtl="0"/>
            <a:r>
              <a:rPr lang="en-US" dirty="0"/>
              <a:t>A more advanced one reaches 0.751, and adding repayment history lifts it to 0.766, our best: right on about 77 out of 100 pairs.</a:t>
            </a:r>
          </a:p>
          <a:p>
            <a:pPr rtl="0"/>
            <a:r>
              <a:rPr lang="en-US" dirty="0"/>
              <a:t>We’re short of the 0.79 target, but tuning harder would fit the past, not new applicants.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a:t>
            </a:r>
          </a:p>
          <a:p>
            <a:r>
              <a:rPr lang="en-US" dirty="0"/>
              <a:t>So what does the score pay attention to? </a:t>
            </a:r>
          </a:p>
          <a:p>
            <a:r>
              <a:rPr lang="en-US" dirty="0"/>
              <a:t>45% of the score’s weight comes from three external credit scores, 22% from repayment and credit history, and the rest from affordability, loan size and stability. </a:t>
            </a:r>
          </a:p>
          <a:p>
            <a:r>
              <a:rPr lang="en-US" dirty="0"/>
              <a:t>A few cautions. We don’t know where the external scores come from, so confirming that is a go-live condition. </a:t>
            </a:r>
          </a:p>
          <a:p>
            <a:r>
              <a:rPr lang="en-US" dirty="0"/>
              <a:t>Gender, age, family and occupation aren’t inputs; we keep them only to audit fairness. And accuracy is weaker for applicants under 25, so we’ll test that before go-live.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a:t>
            </a:r>
          </a:p>
          <a:p>
            <a:r>
              <a:rPr lang="en-US" dirty="0"/>
              <a:t>Now back to the 1 in 7 the bureau can’t see. Meet Maria, a real applicant. No bureau record, no prior Home Credit loans. </a:t>
            </a:r>
          </a:p>
          <a:p>
            <a:r>
              <a:rPr lang="en-US" dirty="0"/>
              <a:t>To a bureau score, she’s invisible.</a:t>
            </a:r>
          </a:p>
          <a:p>
            <a:r>
              <a:rPr lang="en-US" dirty="0"/>
              <a:t>Our score sees two strong external scores, ten and a half years with her employer, a loan that matches the goods price, and the same phone number for ten years. </a:t>
            </a:r>
          </a:p>
          <a:p>
            <a:r>
              <a:rPr lang="en-US" dirty="0"/>
              <a:t>A model that never saw her put her risk at 1.7%, our safest tier. She repaid.</a:t>
            </a:r>
          </a:p>
          <a:p>
            <a:r>
              <a:rPr lang="en-US" dirty="0"/>
              <a:t>She isn’t an exception. Among all 44,021 no-bureau borrowers, the safest 7,800 had under 2% payment difficulty, against nearly 1 in 3 of the riskiest.</a:t>
            </a:r>
          </a:p>
          <a:p>
            <a:r>
              <a:rPr lang="en-US" dirty="0"/>
              <a:t>The finding: our own data lets us see the applicants the bureaus can’t. That’s one group. Now let’s look at what the score does across all of our applicants.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a:t>
            </a:r>
          </a:p>
          <a:p>
            <a:r>
              <a:rPr lang="en-US" dirty="0"/>
              <a:t>This chart lines up every borrower from safest to riskiest.</a:t>
            </a:r>
          </a:p>
          <a:p>
            <a:r>
              <a:rPr lang="en-US" dirty="0"/>
              <a:t>Look at the red bar on the right. </a:t>
            </a:r>
          </a:p>
          <a:p>
            <a:r>
              <a:rPr lang="en-US" dirty="0"/>
              <a:t>That’s the 10% of applicants the score rates riskiest, and they account for more than a third of all our payment problems: about 2,800 of the 8,000 in every 100,000 applications. </a:t>
            </a:r>
          </a:p>
          <a:p>
            <a:r>
              <a:rPr lang="en-US" dirty="0"/>
              <a:t>If we picked 10% of applications at random, we’d catch only about 800. </a:t>
            </a:r>
          </a:p>
          <a:p>
            <a:r>
              <a:rPr lang="en-US" dirty="0"/>
              <a:t>So by focusing review on that one group, we catch three and a half times as many problems for the same effort.</a:t>
            </a:r>
          </a:p>
          <a:p>
            <a:r>
              <a:rPr lang="en-US" dirty="0"/>
              <a:t>And our own data is part of that. </a:t>
            </a:r>
          </a:p>
          <a:p>
            <a:r>
              <a:rPr lang="en-US" dirty="0"/>
              <a:t>Using the external scores alone, we’d catch roughly 500 fewer.</a:t>
            </a:r>
          </a:p>
          <a:p>
            <a:r>
              <a:rPr lang="en-US" dirty="0"/>
              <a:t>Now look at the green bars on the left. In the safest 30%, fewer than 2 in 100 ran into trouble. </a:t>
            </a:r>
          </a:p>
          <a:p>
            <a:r>
              <a:rPr lang="en-US" dirty="0"/>
              <a:t>Those are the applicants we can approve faster.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Those three lanes are on the left. </a:t>
            </a:r>
          </a:p>
          <a:p>
            <a:r>
              <a:rPr lang="en-US" dirty="0"/>
              <a:t>Fast-track: the safest 30%, applicants like Maria, approved with less friction. </a:t>
            </a:r>
          </a:p>
          <a:p>
            <a:r>
              <a:rPr lang="en-US" dirty="0"/>
              <a:t>Standard: the middle 60%, handled exactly as today. </a:t>
            </a:r>
          </a:p>
          <a:p>
            <a:r>
              <a:rPr lang="en-US" dirty="0"/>
              <a:t>Review: the riskiest 10%, where an underwriter takes a second look before we lend.</a:t>
            </a:r>
          </a:p>
          <a:p>
            <a:r>
              <a:rPr lang="en-US" dirty="0"/>
              <a:t>Here’s what that’s worth per 100,000 applications. </a:t>
            </a:r>
          </a:p>
          <a:p>
            <a:r>
              <a:rPr lang="en-US" dirty="0"/>
              <a:t>Even if we declined every applicant in review, the most conservative case, we’d come out about 417 million ahead, and 170 to 205 million of that comes from our own data. </a:t>
            </a:r>
          </a:p>
          <a:p>
            <a:r>
              <a:rPr lang="en-US" dirty="0"/>
              <a:t>Payment difficulty on the loans we make drops from about 8% to under 6%. </a:t>
            </a:r>
          </a:p>
          <a:p>
            <a:r>
              <a:rPr lang="en-US" dirty="0"/>
              <a:t>That drop is room to grow. </a:t>
            </a:r>
          </a:p>
          <a:p>
            <a:r>
              <a:rPr lang="en-US" dirty="0"/>
              <a:t>We could make 10% more loans than today and stay within the 8% ceiling, as long as the new borrowers are no more than about twice as risky as today’s average. </a:t>
            </a:r>
          </a:p>
          <a:p>
            <a:r>
              <a:rPr lang="en-US" dirty="0"/>
              <a:t>The pilot tests whether they 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a:t>
            </a:r>
          </a:p>
          <a:p>
            <a:r>
              <a:rPr lang="en-US" dirty="0"/>
              <a:t>Three options. </a:t>
            </a:r>
          </a:p>
          <a:p>
            <a:r>
              <a:rPr lang="en-US" dirty="0"/>
              <a:t>Doing nothing forgoes about 417 million per 100,000 applications. </a:t>
            </a:r>
          </a:p>
          <a:p>
            <a:r>
              <a:rPr lang="en-US" dirty="0"/>
              <a:t>Full rollout now is fastest, but it turns some good applicants away before we’ve checked the external-score source and the under-25 accuracy gap.</a:t>
            </a:r>
          </a:p>
          <a:p>
            <a:r>
              <a:rPr lang="en-US" dirty="0"/>
              <a:t>I recommend a 90-day shadow pilot. The score rates every application, including today’s declines, but no decision changes. </a:t>
            </a:r>
          </a:p>
          <a:p>
            <a:r>
              <a:rPr lang="en-US" dirty="0"/>
              <a:t>That shows how many low-risk applicants, the Marias, we turn away today. A separate go-ahead would then test approving them on one product line. </a:t>
            </a:r>
          </a:p>
          <a:p>
            <a:r>
              <a:rPr lang="en-US" dirty="0"/>
              <a:t>Today I’m asking only for step one: approve the 90-day shadow-scoring pilot.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a:t>
            </a:r>
          </a:p>
          <a:p>
            <a:r>
              <a:rPr lang="en-US" dirty="0"/>
              <a:t>To summarize: our own data scores the applicants the bureaus can’t see, worth about 170 to 205 million of the 417 million a review tier saves. </a:t>
            </a:r>
          </a:p>
          <a:p>
            <a:endParaRPr lang="en-US" dirty="0"/>
          </a:p>
          <a:p>
            <a:r>
              <a:rPr lang="en-US" dirty="0"/>
              <a:t>I’m asking you to approve the 90-day shadow pilot. I’m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about data quality and leakage. Sources: application, bureau, bureau balance, previous applications, installments, POS/cash, credit card, and test application tables.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Ranking accuracy = mean 3-fold cross-validated ROC-AUC on 307,511 applicants. Differences above about 0.003 exceed fold-to-fold variation.</a:t>
            </a:r>
          </a:p>
          <a:p>
            <a:r>
              <a:rPr lang="en-US" dirty="0"/>
              <a:t>Unseen-data evidence: on Kaggle's held-out test applicants, which the model never saw, the selected model scored 0.762 on the public leaderboard and 0.758 on the private leaderboard. That agrees with the 0.766 cross-validated result, so the accuracy is not an artifact of how we split our own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Axis is zoomed (0.74 to 0.775) to show small differences; all variants sit within about 0.004 of each other.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Gender and age are not model inputs; they are joined afterward for auditing only. Differences flag groups for review; they are not by themselves a legal fairness conclusion. Under-25 applicants show the weakest ranking and slight over-prediction.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Rate of payment difficulty by credit-history group, against the 8.1% average across all 307,511 applicants.</a:t>
            </a:r>
          </a:p>
          <a:p>
            <a:r>
              <a:rPr lang="en-US" dirty="0"/>
              <a:t>Bad history is the strong signal: applicants with a prior bureau delinquency ran at 15.8%, twice the 7.6% rate for applicants with clean bureau history.</a:t>
            </a:r>
          </a:p>
          <a:p>
            <a:r>
              <a:rPr lang="en-US" dirty="0"/>
              <a:t>Missing history is a mild warning sign: the 44,021 applicants (14%) with no bureau record ran at 10.1%. That group includes the roughly 2,200 applicants with no history anywhere, who ran at 7.1%, below average. Because the no-history group is only 0.7% of applicants, treat 7.1% as directional.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F93E-0A8D-CD58-43D0-F609E59AFD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C2E8AE-BDD1-0474-42C7-C0C50C4ED9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223D23-75A2-BA6A-2E87-A32F4FC7B5ED}"/>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5" name="Footer Placeholder 4">
            <a:extLst>
              <a:ext uri="{FF2B5EF4-FFF2-40B4-BE49-F238E27FC236}">
                <a16:creationId xmlns:a16="http://schemas.microsoft.com/office/drawing/2014/main" id="{B07603D4-2692-D82B-9502-5EE00278A1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4FA3A3-CE96-BBBB-B028-B79742FDF21B}"/>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73040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6491-BE75-46C6-1DB2-BAE5F7139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C23475-B93E-8372-7332-4C6D0A0134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19DC5-F164-314E-F193-47173CD38D0C}"/>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5" name="Footer Placeholder 4">
            <a:extLst>
              <a:ext uri="{FF2B5EF4-FFF2-40B4-BE49-F238E27FC236}">
                <a16:creationId xmlns:a16="http://schemas.microsoft.com/office/drawing/2014/main" id="{A3E8376A-C4DA-913B-5979-6EBC2C2504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AAD4C-57C2-1872-18B1-DC972C585906}"/>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1899894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3AEE3-D62C-9B7F-6DDA-2034C8CF17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796EC2-5068-B88D-7C37-6DB567BCD5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532CCE-0C25-9904-E786-36EFF2EC40DE}"/>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5" name="Footer Placeholder 4">
            <a:extLst>
              <a:ext uri="{FF2B5EF4-FFF2-40B4-BE49-F238E27FC236}">
                <a16:creationId xmlns:a16="http://schemas.microsoft.com/office/drawing/2014/main" id="{3443A52D-A7C8-05F3-B2E9-C60772DBDC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3AFB3-5571-7D15-557C-60ABB2DE86A3}"/>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3889031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20238-FB0F-7EFD-4E4A-F5CED51472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0B4226-7DE8-4B03-48A8-BE8B901C10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BEAFB2-8628-E11D-2A29-3251D367DA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7D70A8-B1E8-1C09-5C0F-C1A95E90AF36}"/>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6" name="Footer Placeholder 5">
            <a:extLst>
              <a:ext uri="{FF2B5EF4-FFF2-40B4-BE49-F238E27FC236}">
                <a16:creationId xmlns:a16="http://schemas.microsoft.com/office/drawing/2014/main" id="{783A35B7-B9D9-3EE4-2121-349B5D4F1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32ED3C-6861-9627-DAAC-0ACD9D89C3AB}"/>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1441911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EA3A-AF0E-1395-8FF4-F19D22D313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E9234B-B832-5B83-D4E9-080D6FA5F2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4D66D4-636B-C48D-992E-D013A142A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005235-487E-52F3-FA6F-1E9DEF5DF6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DE9D4C-9F77-3AC3-13D5-605AD0BDDC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360738-4207-CB80-A827-7ABB11ED1DF8}"/>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8" name="Footer Placeholder 7">
            <a:extLst>
              <a:ext uri="{FF2B5EF4-FFF2-40B4-BE49-F238E27FC236}">
                <a16:creationId xmlns:a16="http://schemas.microsoft.com/office/drawing/2014/main" id="{B0EB2D7B-C9AF-C91F-F65A-04700CE14F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2D744C-3140-29A3-37C7-6ED54BACC61E}"/>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1250074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A6DA4-C470-2B26-D952-DE58961D30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2BBAAE-4AB7-62F9-BB36-C4CC73A68DD0}"/>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4" name="Footer Placeholder 3">
            <a:extLst>
              <a:ext uri="{FF2B5EF4-FFF2-40B4-BE49-F238E27FC236}">
                <a16:creationId xmlns:a16="http://schemas.microsoft.com/office/drawing/2014/main" id="{25641A59-0740-6518-43B1-3D188FAD5D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6155B8-F7B7-6BBE-F404-0D29B0E92847}"/>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4027250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620CCA-F5E6-C44D-C570-8028466F0224}"/>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3" name="Footer Placeholder 2">
            <a:extLst>
              <a:ext uri="{FF2B5EF4-FFF2-40B4-BE49-F238E27FC236}">
                <a16:creationId xmlns:a16="http://schemas.microsoft.com/office/drawing/2014/main" id="{C133A666-3122-8C1D-9143-24FDBE230C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48A3B7-66B3-3F58-465E-495BCA45B097}"/>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4161697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CD0B0-3C46-C918-E37E-06194B1D1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939A24-D139-3854-5970-51154F0373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B980E5-56FA-2CB4-F51E-8BED3AC0DD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480633-25C3-691F-7865-ADD55AA8560C}"/>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6" name="Footer Placeholder 5">
            <a:extLst>
              <a:ext uri="{FF2B5EF4-FFF2-40B4-BE49-F238E27FC236}">
                <a16:creationId xmlns:a16="http://schemas.microsoft.com/office/drawing/2014/main" id="{9AE76D25-301B-D295-C119-7AA0276C5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4FA43D-15F3-79E7-1414-5DD409E823D4}"/>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2275306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F352-DC79-83B9-133D-879D23564A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3DE5BA-F495-242D-08DD-0113E1D4511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3BDC96-E954-313A-FDEE-84B72CDD1E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648EB8-BD9C-EEBA-AF0C-B030DA095515}"/>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6" name="Footer Placeholder 5">
            <a:extLst>
              <a:ext uri="{FF2B5EF4-FFF2-40B4-BE49-F238E27FC236}">
                <a16:creationId xmlns:a16="http://schemas.microsoft.com/office/drawing/2014/main" id="{5CA04F92-3A22-531D-EAB8-C73161F94C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9C6F06-7D4A-9C25-2DFC-161694816CAE}"/>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69681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B6CE-932C-20A6-D480-E0A47F06F5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C3B07E-160F-94D8-BC8B-5D0BA164F2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43E145-5ADA-A4FB-6B2D-D178DC3B1376}"/>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5" name="Footer Placeholder 4">
            <a:extLst>
              <a:ext uri="{FF2B5EF4-FFF2-40B4-BE49-F238E27FC236}">
                <a16:creationId xmlns:a16="http://schemas.microsoft.com/office/drawing/2014/main" id="{5D2766C9-434A-FDFD-6283-E6A6EB5B8E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12263E-D792-3C88-A198-B9D4D0F49500}"/>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3944280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AAEDC8-F8EA-91FA-6D5B-AB5BE2CB0D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A3B2F3-18D1-B8CF-4244-DCD760E885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092DE1-2754-09EF-76DC-CFD9D13ED4AB}"/>
              </a:ext>
            </a:extLst>
          </p:cNvPr>
          <p:cNvSpPr>
            <a:spLocks noGrp="1"/>
          </p:cNvSpPr>
          <p:nvPr>
            <p:ph type="dt" sz="half" idx="10"/>
          </p:nvPr>
        </p:nvSpPr>
        <p:spPr/>
        <p:txBody>
          <a:bodyPr/>
          <a:lstStyle/>
          <a:p>
            <a:fld id="{221E3864-8C1D-4C18-814D-54A522A71CD2}" type="datetimeFigureOut">
              <a:rPr lang="en-US" smtClean="0"/>
              <a:t>10/17/2026</a:t>
            </a:fld>
            <a:endParaRPr lang="en-US"/>
          </a:p>
        </p:txBody>
      </p:sp>
      <p:sp>
        <p:nvSpPr>
          <p:cNvPr id="5" name="Footer Placeholder 4">
            <a:extLst>
              <a:ext uri="{FF2B5EF4-FFF2-40B4-BE49-F238E27FC236}">
                <a16:creationId xmlns:a16="http://schemas.microsoft.com/office/drawing/2014/main" id="{D77FADB4-2AFB-B317-79DD-CF21959F07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13D5F8-0304-6F4D-3333-DD7870C86B97}"/>
              </a:ext>
            </a:extLst>
          </p:cNvPr>
          <p:cNvSpPr>
            <a:spLocks noGrp="1"/>
          </p:cNvSpPr>
          <p:nvPr>
            <p:ph type="sldNum" sz="quarter" idx="12"/>
          </p:nvPr>
        </p:nvSpPr>
        <p:spPr/>
        <p:txBody>
          <a:bodyPr/>
          <a:lstStyle/>
          <a:p>
            <a:fld id="{5AA420BD-059D-4CC4-BBBC-03312C2159DC}" type="slidenum">
              <a:rPr lang="en-US" smtClean="0"/>
              <a:t>‹#›</a:t>
            </a:fld>
            <a:endParaRPr lang="en-US"/>
          </a:p>
        </p:txBody>
      </p:sp>
    </p:spTree>
    <p:extLst>
      <p:ext uri="{BB962C8B-B14F-4D97-AF65-F5344CB8AC3E}">
        <p14:creationId xmlns:p14="http://schemas.microsoft.com/office/powerpoint/2010/main" val="15122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794760"/>
            <a:ext cx="10698480" cy="128016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extLst>
      <p:ext uri="{BB962C8B-B14F-4D97-AF65-F5344CB8AC3E}">
        <p14:creationId xmlns:p14="http://schemas.microsoft.com/office/powerpoint/2010/main" val="2010844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0550667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pic>
        <p:nvPicPr>
          <p:cNvPr id="3" name="Picture 6" descr="DESB.ps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47856" y="1087325"/>
            <a:ext cx="8696288" cy="1857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4"/>
          <p:cNvSpPr>
            <a:spLocks noGrp="1"/>
          </p:cNvSpPr>
          <p:nvPr>
            <p:ph type="body" sz="quarter" idx="10"/>
          </p:nvPr>
        </p:nvSpPr>
        <p:spPr>
          <a:xfrm>
            <a:off x="0" y="3639063"/>
            <a:ext cx="12192000" cy="739439"/>
          </a:xfrm>
        </p:spPr>
        <p:txBody>
          <a:bodyPr/>
          <a:lstStyle>
            <a:lvl1pPr marL="0" indent="0" algn="ctr">
              <a:buNone/>
              <a:defRPr sz="5104" b="1"/>
            </a:lvl1pPr>
          </a:lstStyle>
          <a:p>
            <a:pPr lvl="0"/>
            <a:r>
              <a:rPr lang="en-US" dirty="0"/>
              <a:t>Click to edit Master text styles</a:t>
            </a:r>
          </a:p>
        </p:txBody>
      </p:sp>
    </p:spTree>
    <p:extLst>
      <p:ext uri="{BB962C8B-B14F-4D97-AF65-F5344CB8AC3E}">
        <p14:creationId xmlns:p14="http://schemas.microsoft.com/office/powerpoint/2010/main" val="1596871756"/>
      </p:ext>
    </p:extLst>
  </p:cSld>
  <p:clrMapOvr>
    <a:overrideClrMapping bg1="lt1" tx1="dk1" bg2="lt2" tx2="dk2" accent1="accent1" accent2="accent2" accent3="accent3" accent4="accent4" accent5="accent5" accent6="accent6" hlink="hlink" folHlink="folHlink"/>
  </p:clrMapOvr>
  <p:transition/>
  <p:hf sldNum="0"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C33709-E67E-6A54-D113-91A499F3F3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E39FD4-05D2-0A29-6A2E-0804EE3482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5DE1D-7BF5-68EB-56D2-EE848E1C43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1E3864-8C1D-4C18-814D-54A522A71CD2}" type="datetimeFigureOut">
              <a:rPr lang="en-US" smtClean="0"/>
              <a:t>10/17/2026</a:t>
            </a:fld>
            <a:endParaRPr lang="en-US"/>
          </a:p>
        </p:txBody>
      </p:sp>
      <p:sp>
        <p:nvSpPr>
          <p:cNvPr id="5" name="Footer Placeholder 4">
            <a:extLst>
              <a:ext uri="{FF2B5EF4-FFF2-40B4-BE49-F238E27FC236}">
                <a16:creationId xmlns:a16="http://schemas.microsoft.com/office/drawing/2014/main" id="{F8DDD6FE-027E-06E6-8FD4-37AE87B69A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A1804D-7652-CC29-AE78-4A740D3CDE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A420BD-059D-4CC4-BBBC-03312C2159DC}" type="slidenum">
              <a:rPr lang="en-US" smtClean="0"/>
              <a:t>‹#›</a:t>
            </a:fld>
            <a:endParaRPr lang="en-US"/>
          </a:p>
        </p:txBody>
      </p:sp>
    </p:spTree>
    <p:extLst>
      <p:ext uri="{BB962C8B-B14F-4D97-AF65-F5344CB8AC3E}">
        <p14:creationId xmlns:p14="http://schemas.microsoft.com/office/powerpoint/2010/main" val="3008368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Text Placeholder 3"/>
          <p:cNvSpPr>
            <a:spLocks noGrp="1"/>
          </p:cNvSpPr>
          <p:nvPr>
            <p:ph type="body" sz="quarter" idx="10"/>
          </p:nvPr>
        </p:nvSpPr>
        <p:spPr>
          <a:xfrm>
            <a:off x="1" y="3639008"/>
            <a:ext cx="12192000" cy="739160"/>
          </a:xfrm>
        </p:spPr>
        <p:txBody>
          <a:bodyPr>
            <a:normAutofit lnSpcReduction="10000"/>
          </a:bodyPr>
          <a:lstStyle/>
          <a:p>
            <a:r>
              <a:rPr lang="en-US" altLang="en-US" dirty="0">
                <a:latin typeface="Arial" charset="0"/>
                <a:ea typeface="ＭＳ Ｐゴシック" charset="-128"/>
              </a:rPr>
              <a:t>Practice Presentation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lIns="0" tIns="0" rIns="0" bIns="0" rtlCol="0" anchor="b"/>
          <a:lstStyle/>
          <a:p>
            <a:pPr algn="ctr"/>
            <a:r>
              <a:rPr lang="en-US" sz="4000" dirty="0">
                <a:solidFill>
                  <a:srgbClr val="E8ECF0"/>
                </a:solidFill>
              </a:rPr>
              <a:t>Using traditional and alternative information to predict payment risk</a:t>
            </a:r>
          </a:p>
        </p:txBody>
      </p:sp>
      <p:sp>
        <p:nvSpPr>
          <p:cNvPr id="3" name="Text 0"/>
          <p:cNvSpPr>
            <a:spLocks noGrp="1"/>
          </p:cNvSpPr>
          <p:nvPr>
            <p:ph type="body" idx="101" hasCustomPrompt="1"/>
          </p:nvPr>
        </p:nvSpPr>
        <p:spPr>
          <a:xfrm>
            <a:off x="731520" y="3794760"/>
            <a:ext cx="10698480" cy="1280160"/>
          </a:xfrm>
          <a:prstGeom prst="rect">
            <a:avLst/>
          </a:prstGeom>
          <a:noFill/>
          <a:ln/>
        </p:spPr>
        <p:txBody>
          <a:bodyPr wrap="square" lIns="0" tIns="0" rIns="0" bIns="0" rtlCol="0" anchor="t"/>
          <a:lstStyle/>
          <a:p>
            <a:pPr marL="0" indent="0" algn="ctr">
              <a:buNone/>
            </a:pPr>
            <a:endParaRPr lang="en-US" sz="2000" dirty="0"/>
          </a:p>
          <a:p>
            <a:pPr marL="0" indent="0" algn="ctr">
              <a:buNone/>
            </a:pPr>
            <a:r>
              <a:rPr lang="en-US" sz="2000" dirty="0">
                <a:solidFill>
                  <a:schemeClr val="accent4"/>
                </a:solidFill>
              </a:rPr>
              <a:t>Decision brief  |  Alejo Sanchez  |  October 2026</a:t>
            </a:r>
          </a:p>
        </p:txBody>
      </p:sp>
    </p:spTree>
    <p:extLst>
      <p:ext uri="{BB962C8B-B14F-4D97-AF65-F5344CB8AC3E}">
        <p14:creationId xmlns:p14="http://schemas.microsoft.com/office/powerpoint/2010/main" val="4165649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normAutofit fontScale="90000"/>
          </a:bodyPr>
          <a:lstStyle/>
          <a:p>
            <a:pPr marL="0" indent="0" algn="l">
              <a:buNone/>
            </a:pPr>
            <a:r>
              <a:rPr lang="en-US" sz="3200" b="1" dirty="0">
                <a:solidFill>
                  <a:schemeClr val="tx2"/>
                </a:solidFill>
                <a:latin typeface="Cambria" pitchFamily="34" charset="0"/>
                <a:ea typeface="Cambria" pitchFamily="34" charset="-122"/>
                <a:cs typeface="Cambria" pitchFamily="34" charset="-120"/>
              </a:rPr>
              <a:t>1 in 7 applicants has no bureau record, so traditional scoring can’t see them</a:t>
            </a:r>
            <a:endParaRPr lang="en-US" sz="3200" dirty="0"/>
          </a:p>
        </p:txBody>
      </p:sp>
      <p:sp>
        <p:nvSpPr>
          <p:cNvPr id="3" name="dot 0"/>
          <p:cNvSpPr/>
          <p:nvPr/>
        </p:nvSpPr>
        <p:spPr>
          <a:xfrm>
            <a:off x="685800" y="1625600"/>
            <a:ext cx="215900" cy="215900"/>
          </a:xfrm>
          <a:prstGeom prst="ellipse">
            <a:avLst/>
          </a:prstGeom>
          <a:solidFill>
            <a:srgbClr val="1B2A41"/>
          </a:solidFill>
          <a:ln/>
        </p:spPr>
        <p:txBody>
          <a:bodyPr/>
          <a:lstStyle/>
          <a:p>
            <a:endParaRPr lang="en-US"/>
          </a:p>
        </p:txBody>
      </p:sp>
      <p:sp>
        <p:nvSpPr>
          <p:cNvPr id="4" name="dot 1"/>
          <p:cNvSpPr/>
          <p:nvPr/>
        </p:nvSpPr>
        <p:spPr>
          <a:xfrm>
            <a:off x="952500" y="1625600"/>
            <a:ext cx="215900" cy="215900"/>
          </a:xfrm>
          <a:prstGeom prst="ellipse">
            <a:avLst/>
          </a:prstGeom>
          <a:solidFill>
            <a:srgbClr val="1B2A41"/>
          </a:solidFill>
          <a:ln/>
        </p:spPr>
        <p:txBody>
          <a:bodyPr/>
          <a:lstStyle/>
          <a:p>
            <a:endParaRPr lang="en-US"/>
          </a:p>
        </p:txBody>
      </p:sp>
      <p:sp>
        <p:nvSpPr>
          <p:cNvPr id="5" name="dot 2"/>
          <p:cNvSpPr/>
          <p:nvPr/>
        </p:nvSpPr>
        <p:spPr>
          <a:xfrm>
            <a:off x="1219200" y="1625600"/>
            <a:ext cx="215900" cy="215900"/>
          </a:xfrm>
          <a:prstGeom prst="ellipse">
            <a:avLst/>
          </a:prstGeom>
          <a:solidFill>
            <a:srgbClr val="1B2A41"/>
          </a:solidFill>
          <a:ln/>
        </p:spPr>
        <p:txBody>
          <a:bodyPr/>
          <a:lstStyle/>
          <a:p>
            <a:endParaRPr lang="en-US"/>
          </a:p>
        </p:txBody>
      </p:sp>
      <p:sp>
        <p:nvSpPr>
          <p:cNvPr id="6" name="dot 3"/>
          <p:cNvSpPr/>
          <p:nvPr/>
        </p:nvSpPr>
        <p:spPr>
          <a:xfrm>
            <a:off x="1485900" y="1625600"/>
            <a:ext cx="215900" cy="215900"/>
          </a:xfrm>
          <a:prstGeom prst="ellipse">
            <a:avLst/>
          </a:prstGeom>
          <a:solidFill>
            <a:srgbClr val="1B2A41"/>
          </a:solidFill>
          <a:ln/>
        </p:spPr>
        <p:txBody>
          <a:bodyPr/>
          <a:lstStyle/>
          <a:p>
            <a:endParaRPr lang="en-US"/>
          </a:p>
        </p:txBody>
      </p:sp>
      <p:sp>
        <p:nvSpPr>
          <p:cNvPr id="7" name="dot 4"/>
          <p:cNvSpPr/>
          <p:nvPr/>
        </p:nvSpPr>
        <p:spPr>
          <a:xfrm>
            <a:off x="1752600" y="1625600"/>
            <a:ext cx="215900" cy="215900"/>
          </a:xfrm>
          <a:prstGeom prst="ellipse">
            <a:avLst/>
          </a:prstGeom>
          <a:solidFill>
            <a:srgbClr val="1B2A41"/>
          </a:solidFill>
          <a:ln/>
        </p:spPr>
        <p:txBody>
          <a:bodyPr/>
          <a:lstStyle/>
          <a:p>
            <a:endParaRPr lang="en-US"/>
          </a:p>
        </p:txBody>
      </p:sp>
      <p:sp>
        <p:nvSpPr>
          <p:cNvPr id="8" name="dot 5"/>
          <p:cNvSpPr/>
          <p:nvPr/>
        </p:nvSpPr>
        <p:spPr>
          <a:xfrm>
            <a:off x="2019300" y="1625600"/>
            <a:ext cx="215900" cy="215900"/>
          </a:xfrm>
          <a:prstGeom prst="ellipse">
            <a:avLst/>
          </a:prstGeom>
          <a:solidFill>
            <a:srgbClr val="1B2A41"/>
          </a:solidFill>
          <a:ln/>
        </p:spPr>
        <p:txBody>
          <a:bodyPr/>
          <a:lstStyle/>
          <a:p>
            <a:endParaRPr lang="en-US"/>
          </a:p>
        </p:txBody>
      </p:sp>
      <p:sp>
        <p:nvSpPr>
          <p:cNvPr id="9" name="dot 6"/>
          <p:cNvSpPr/>
          <p:nvPr/>
        </p:nvSpPr>
        <p:spPr>
          <a:xfrm>
            <a:off x="2286000" y="1625600"/>
            <a:ext cx="215900" cy="215900"/>
          </a:xfrm>
          <a:prstGeom prst="ellipse">
            <a:avLst/>
          </a:prstGeom>
          <a:solidFill>
            <a:srgbClr val="1B2A41"/>
          </a:solidFill>
          <a:ln/>
        </p:spPr>
        <p:txBody>
          <a:bodyPr/>
          <a:lstStyle/>
          <a:p>
            <a:endParaRPr lang="en-US"/>
          </a:p>
        </p:txBody>
      </p:sp>
      <p:sp>
        <p:nvSpPr>
          <p:cNvPr id="10" name="dot 7"/>
          <p:cNvSpPr/>
          <p:nvPr/>
        </p:nvSpPr>
        <p:spPr>
          <a:xfrm>
            <a:off x="2552700" y="1625600"/>
            <a:ext cx="215900" cy="215900"/>
          </a:xfrm>
          <a:prstGeom prst="ellipse">
            <a:avLst/>
          </a:prstGeom>
          <a:solidFill>
            <a:srgbClr val="1B2A41"/>
          </a:solidFill>
          <a:ln/>
        </p:spPr>
        <p:txBody>
          <a:bodyPr/>
          <a:lstStyle/>
          <a:p>
            <a:endParaRPr lang="en-US"/>
          </a:p>
        </p:txBody>
      </p:sp>
      <p:sp>
        <p:nvSpPr>
          <p:cNvPr id="11" name="dot 8"/>
          <p:cNvSpPr/>
          <p:nvPr/>
        </p:nvSpPr>
        <p:spPr>
          <a:xfrm>
            <a:off x="2819400" y="1625600"/>
            <a:ext cx="215900" cy="215900"/>
          </a:xfrm>
          <a:prstGeom prst="ellipse">
            <a:avLst/>
          </a:prstGeom>
          <a:solidFill>
            <a:srgbClr val="1B2A41"/>
          </a:solidFill>
          <a:ln/>
        </p:spPr>
        <p:txBody>
          <a:bodyPr/>
          <a:lstStyle/>
          <a:p>
            <a:endParaRPr lang="en-US"/>
          </a:p>
        </p:txBody>
      </p:sp>
      <p:sp>
        <p:nvSpPr>
          <p:cNvPr id="12" name="dot 9"/>
          <p:cNvSpPr/>
          <p:nvPr/>
        </p:nvSpPr>
        <p:spPr>
          <a:xfrm>
            <a:off x="3086100" y="1625600"/>
            <a:ext cx="215900" cy="215900"/>
          </a:xfrm>
          <a:prstGeom prst="ellipse">
            <a:avLst/>
          </a:prstGeom>
          <a:solidFill>
            <a:srgbClr val="1B2A41"/>
          </a:solidFill>
          <a:ln/>
        </p:spPr>
        <p:txBody>
          <a:bodyPr/>
          <a:lstStyle/>
          <a:p>
            <a:endParaRPr lang="en-US"/>
          </a:p>
        </p:txBody>
      </p:sp>
      <p:sp>
        <p:nvSpPr>
          <p:cNvPr id="13" name="dot 10"/>
          <p:cNvSpPr/>
          <p:nvPr/>
        </p:nvSpPr>
        <p:spPr>
          <a:xfrm>
            <a:off x="685800" y="1892300"/>
            <a:ext cx="215900" cy="215900"/>
          </a:xfrm>
          <a:prstGeom prst="ellipse">
            <a:avLst/>
          </a:prstGeom>
          <a:solidFill>
            <a:srgbClr val="1B2A41"/>
          </a:solidFill>
          <a:ln/>
        </p:spPr>
        <p:txBody>
          <a:bodyPr/>
          <a:lstStyle/>
          <a:p>
            <a:endParaRPr lang="en-US"/>
          </a:p>
        </p:txBody>
      </p:sp>
      <p:sp>
        <p:nvSpPr>
          <p:cNvPr id="14" name="dot 11"/>
          <p:cNvSpPr/>
          <p:nvPr/>
        </p:nvSpPr>
        <p:spPr>
          <a:xfrm>
            <a:off x="952500" y="1892300"/>
            <a:ext cx="215900" cy="215900"/>
          </a:xfrm>
          <a:prstGeom prst="ellipse">
            <a:avLst/>
          </a:prstGeom>
          <a:solidFill>
            <a:srgbClr val="1B2A41"/>
          </a:solidFill>
          <a:ln/>
        </p:spPr>
        <p:txBody>
          <a:bodyPr/>
          <a:lstStyle/>
          <a:p>
            <a:endParaRPr lang="en-US"/>
          </a:p>
        </p:txBody>
      </p:sp>
      <p:sp>
        <p:nvSpPr>
          <p:cNvPr id="15" name="dot 12"/>
          <p:cNvSpPr/>
          <p:nvPr/>
        </p:nvSpPr>
        <p:spPr>
          <a:xfrm>
            <a:off x="1219200" y="1892300"/>
            <a:ext cx="215900" cy="215900"/>
          </a:xfrm>
          <a:prstGeom prst="ellipse">
            <a:avLst/>
          </a:prstGeom>
          <a:solidFill>
            <a:srgbClr val="1B2A41"/>
          </a:solidFill>
          <a:ln/>
        </p:spPr>
        <p:txBody>
          <a:bodyPr/>
          <a:lstStyle/>
          <a:p>
            <a:endParaRPr lang="en-US"/>
          </a:p>
        </p:txBody>
      </p:sp>
      <p:sp>
        <p:nvSpPr>
          <p:cNvPr id="16" name="dot 13"/>
          <p:cNvSpPr/>
          <p:nvPr/>
        </p:nvSpPr>
        <p:spPr>
          <a:xfrm>
            <a:off x="1485900" y="1892300"/>
            <a:ext cx="215900" cy="215900"/>
          </a:xfrm>
          <a:prstGeom prst="ellipse">
            <a:avLst/>
          </a:prstGeom>
          <a:solidFill>
            <a:srgbClr val="1B2A41"/>
          </a:solidFill>
          <a:ln/>
        </p:spPr>
        <p:txBody>
          <a:bodyPr/>
          <a:lstStyle/>
          <a:p>
            <a:endParaRPr lang="en-US"/>
          </a:p>
        </p:txBody>
      </p:sp>
      <p:sp>
        <p:nvSpPr>
          <p:cNvPr id="17" name="dot 14"/>
          <p:cNvSpPr/>
          <p:nvPr/>
        </p:nvSpPr>
        <p:spPr>
          <a:xfrm>
            <a:off x="1752600" y="1892300"/>
            <a:ext cx="215900" cy="215900"/>
          </a:xfrm>
          <a:prstGeom prst="ellipse">
            <a:avLst/>
          </a:prstGeom>
          <a:solidFill>
            <a:srgbClr val="C9D1D9"/>
          </a:solidFill>
          <a:ln/>
        </p:spPr>
        <p:txBody>
          <a:bodyPr/>
          <a:lstStyle/>
          <a:p>
            <a:endParaRPr lang="en-US"/>
          </a:p>
        </p:txBody>
      </p:sp>
      <p:sp>
        <p:nvSpPr>
          <p:cNvPr id="18" name="dot 15"/>
          <p:cNvSpPr/>
          <p:nvPr/>
        </p:nvSpPr>
        <p:spPr>
          <a:xfrm>
            <a:off x="2019300" y="1892300"/>
            <a:ext cx="215900" cy="215900"/>
          </a:xfrm>
          <a:prstGeom prst="ellipse">
            <a:avLst/>
          </a:prstGeom>
          <a:solidFill>
            <a:srgbClr val="C9D1D9"/>
          </a:solidFill>
          <a:ln/>
        </p:spPr>
        <p:txBody>
          <a:bodyPr/>
          <a:lstStyle/>
          <a:p>
            <a:endParaRPr lang="en-US"/>
          </a:p>
        </p:txBody>
      </p:sp>
      <p:sp>
        <p:nvSpPr>
          <p:cNvPr id="19" name="dot 16"/>
          <p:cNvSpPr/>
          <p:nvPr/>
        </p:nvSpPr>
        <p:spPr>
          <a:xfrm>
            <a:off x="2286000" y="1892300"/>
            <a:ext cx="215900" cy="215900"/>
          </a:xfrm>
          <a:prstGeom prst="ellipse">
            <a:avLst/>
          </a:prstGeom>
          <a:solidFill>
            <a:srgbClr val="C9D1D9"/>
          </a:solidFill>
          <a:ln/>
        </p:spPr>
        <p:txBody>
          <a:bodyPr/>
          <a:lstStyle/>
          <a:p>
            <a:endParaRPr lang="en-US"/>
          </a:p>
        </p:txBody>
      </p:sp>
      <p:sp>
        <p:nvSpPr>
          <p:cNvPr id="20" name="dot 17"/>
          <p:cNvSpPr/>
          <p:nvPr/>
        </p:nvSpPr>
        <p:spPr>
          <a:xfrm>
            <a:off x="2552700" y="1892300"/>
            <a:ext cx="215900" cy="215900"/>
          </a:xfrm>
          <a:prstGeom prst="ellipse">
            <a:avLst/>
          </a:prstGeom>
          <a:solidFill>
            <a:srgbClr val="C9D1D9"/>
          </a:solidFill>
          <a:ln/>
        </p:spPr>
        <p:txBody>
          <a:bodyPr/>
          <a:lstStyle/>
          <a:p>
            <a:endParaRPr lang="en-US"/>
          </a:p>
        </p:txBody>
      </p:sp>
      <p:sp>
        <p:nvSpPr>
          <p:cNvPr id="21" name="dot 18"/>
          <p:cNvSpPr/>
          <p:nvPr/>
        </p:nvSpPr>
        <p:spPr>
          <a:xfrm>
            <a:off x="2819400" y="1892300"/>
            <a:ext cx="215900" cy="215900"/>
          </a:xfrm>
          <a:prstGeom prst="ellipse">
            <a:avLst/>
          </a:prstGeom>
          <a:solidFill>
            <a:srgbClr val="C9D1D9"/>
          </a:solidFill>
          <a:ln/>
        </p:spPr>
        <p:txBody>
          <a:bodyPr/>
          <a:lstStyle/>
          <a:p>
            <a:endParaRPr lang="en-US"/>
          </a:p>
        </p:txBody>
      </p:sp>
      <p:sp>
        <p:nvSpPr>
          <p:cNvPr id="22" name="dot 19"/>
          <p:cNvSpPr/>
          <p:nvPr/>
        </p:nvSpPr>
        <p:spPr>
          <a:xfrm>
            <a:off x="3086100" y="1892300"/>
            <a:ext cx="215900" cy="215900"/>
          </a:xfrm>
          <a:prstGeom prst="ellipse">
            <a:avLst/>
          </a:prstGeom>
          <a:solidFill>
            <a:srgbClr val="C9D1D9"/>
          </a:solidFill>
          <a:ln/>
        </p:spPr>
        <p:txBody>
          <a:bodyPr/>
          <a:lstStyle/>
          <a:p>
            <a:endParaRPr lang="en-US"/>
          </a:p>
        </p:txBody>
      </p:sp>
      <p:sp>
        <p:nvSpPr>
          <p:cNvPr id="23" name="dot 20"/>
          <p:cNvSpPr/>
          <p:nvPr/>
        </p:nvSpPr>
        <p:spPr>
          <a:xfrm>
            <a:off x="685800" y="2159000"/>
            <a:ext cx="215900" cy="215900"/>
          </a:xfrm>
          <a:prstGeom prst="ellipse">
            <a:avLst/>
          </a:prstGeom>
          <a:solidFill>
            <a:srgbClr val="C9D1D9"/>
          </a:solidFill>
          <a:ln/>
        </p:spPr>
        <p:txBody>
          <a:bodyPr/>
          <a:lstStyle/>
          <a:p>
            <a:endParaRPr lang="en-US"/>
          </a:p>
        </p:txBody>
      </p:sp>
      <p:sp>
        <p:nvSpPr>
          <p:cNvPr id="24" name="dot 21"/>
          <p:cNvSpPr/>
          <p:nvPr/>
        </p:nvSpPr>
        <p:spPr>
          <a:xfrm>
            <a:off x="952500" y="2159000"/>
            <a:ext cx="215900" cy="215900"/>
          </a:xfrm>
          <a:prstGeom prst="ellipse">
            <a:avLst/>
          </a:prstGeom>
          <a:solidFill>
            <a:srgbClr val="C9D1D9"/>
          </a:solidFill>
          <a:ln/>
        </p:spPr>
        <p:txBody>
          <a:bodyPr/>
          <a:lstStyle/>
          <a:p>
            <a:endParaRPr lang="en-US"/>
          </a:p>
        </p:txBody>
      </p:sp>
      <p:sp>
        <p:nvSpPr>
          <p:cNvPr id="25" name="dot 22"/>
          <p:cNvSpPr/>
          <p:nvPr/>
        </p:nvSpPr>
        <p:spPr>
          <a:xfrm>
            <a:off x="1219200" y="2159000"/>
            <a:ext cx="215900" cy="215900"/>
          </a:xfrm>
          <a:prstGeom prst="ellipse">
            <a:avLst/>
          </a:prstGeom>
          <a:solidFill>
            <a:srgbClr val="C9D1D9"/>
          </a:solidFill>
          <a:ln/>
        </p:spPr>
        <p:txBody>
          <a:bodyPr/>
          <a:lstStyle/>
          <a:p>
            <a:endParaRPr lang="en-US"/>
          </a:p>
        </p:txBody>
      </p:sp>
      <p:sp>
        <p:nvSpPr>
          <p:cNvPr id="26" name="dot 23"/>
          <p:cNvSpPr/>
          <p:nvPr/>
        </p:nvSpPr>
        <p:spPr>
          <a:xfrm>
            <a:off x="1485900" y="2159000"/>
            <a:ext cx="215900" cy="215900"/>
          </a:xfrm>
          <a:prstGeom prst="ellipse">
            <a:avLst/>
          </a:prstGeom>
          <a:solidFill>
            <a:srgbClr val="C9D1D9"/>
          </a:solidFill>
          <a:ln/>
        </p:spPr>
        <p:txBody>
          <a:bodyPr/>
          <a:lstStyle/>
          <a:p>
            <a:endParaRPr lang="en-US"/>
          </a:p>
        </p:txBody>
      </p:sp>
      <p:sp>
        <p:nvSpPr>
          <p:cNvPr id="27" name="dot 24"/>
          <p:cNvSpPr/>
          <p:nvPr/>
        </p:nvSpPr>
        <p:spPr>
          <a:xfrm>
            <a:off x="1752600" y="2159000"/>
            <a:ext cx="215900" cy="215900"/>
          </a:xfrm>
          <a:prstGeom prst="ellipse">
            <a:avLst/>
          </a:prstGeom>
          <a:solidFill>
            <a:srgbClr val="C9D1D9"/>
          </a:solidFill>
          <a:ln/>
        </p:spPr>
        <p:txBody>
          <a:bodyPr/>
          <a:lstStyle/>
          <a:p>
            <a:endParaRPr lang="en-US"/>
          </a:p>
        </p:txBody>
      </p:sp>
      <p:sp>
        <p:nvSpPr>
          <p:cNvPr id="28" name="dot 25"/>
          <p:cNvSpPr/>
          <p:nvPr/>
        </p:nvSpPr>
        <p:spPr>
          <a:xfrm>
            <a:off x="2019300" y="2159000"/>
            <a:ext cx="215900" cy="215900"/>
          </a:xfrm>
          <a:prstGeom prst="ellipse">
            <a:avLst/>
          </a:prstGeom>
          <a:solidFill>
            <a:srgbClr val="C9D1D9"/>
          </a:solidFill>
          <a:ln/>
        </p:spPr>
        <p:txBody>
          <a:bodyPr/>
          <a:lstStyle/>
          <a:p>
            <a:endParaRPr lang="en-US"/>
          </a:p>
        </p:txBody>
      </p:sp>
      <p:sp>
        <p:nvSpPr>
          <p:cNvPr id="29" name="dot 26"/>
          <p:cNvSpPr/>
          <p:nvPr/>
        </p:nvSpPr>
        <p:spPr>
          <a:xfrm>
            <a:off x="2286000" y="2159000"/>
            <a:ext cx="215900" cy="215900"/>
          </a:xfrm>
          <a:prstGeom prst="ellipse">
            <a:avLst/>
          </a:prstGeom>
          <a:solidFill>
            <a:srgbClr val="C9D1D9"/>
          </a:solidFill>
          <a:ln/>
        </p:spPr>
        <p:txBody>
          <a:bodyPr/>
          <a:lstStyle/>
          <a:p>
            <a:endParaRPr lang="en-US"/>
          </a:p>
        </p:txBody>
      </p:sp>
      <p:sp>
        <p:nvSpPr>
          <p:cNvPr id="30" name="dot 27"/>
          <p:cNvSpPr/>
          <p:nvPr/>
        </p:nvSpPr>
        <p:spPr>
          <a:xfrm>
            <a:off x="2552700" y="2159000"/>
            <a:ext cx="215900" cy="215900"/>
          </a:xfrm>
          <a:prstGeom prst="ellipse">
            <a:avLst/>
          </a:prstGeom>
          <a:solidFill>
            <a:srgbClr val="C9D1D9"/>
          </a:solidFill>
          <a:ln/>
        </p:spPr>
        <p:txBody>
          <a:bodyPr/>
          <a:lstStyle/>
          <a:p>
            <a:endParaRPr lang="en-US"/>
          </a:p>
        </p:txBody>
      </p:sp>
      <p:sp>
        <p:nvSpPr>
          <p:cNvPr id="31" name="dot 28"/>
          <p:cNvSpPr/>
          <p:nvPr/>
        </p:nvSpPr>
        <p:spPr>
          <a:xfrm>
            <a:off x="2819400" y="2159000"/>
            <a:ext cx="215900" cy="215900"/>
          </a:xfrm>
          <a:prstGeom prst="ellipse">
            <a:avLst/>
          </a:prstGeom>
          <a:solidFill>
            <a:srgbClr val="C9D1D9"/>
          </a:solidFill>
          <a:ln/>
        </p:spPr>
        <p:txBody>
          <a:bodyPr/>
          <a:lstStyle/>
          <a:p>
            <a:endParaRPr lang="en-US"/>
          </a:p>
        </p:txBody>
      </p:sp>
      <p:sp>
        <p:nvSpPr>
          <p:cNvPr id="32" name="dot 29"/>
          <p:cNvSpPr/>
          <p:nvPr/>
        </p:nvSpPr>
        <p:spPr>
          <a:xfrm>
            <a:off x="3086100" y="2159000"/>
            <a:ext cx="215900" cy="215900"/>
          </a:xfrm>
          <a:prstGeom prst="ellipse">
            <a:avLst/>
          </a:prstGeom>
          <a:solidFill>
            <a:srgbClr val="C9D1D9"/>
          </a:solidFill>
          <a:ln/>
        </p:spPr>
        <p:txBody>
          <a:bodyPr/>
          <a:lstStyle/>
          <a:p>
            <a:endParaRPr lang="en-US"/>
          </a:p>
        </p:txBody>
      </p:sp>
      <p:sp>
        <p:nvSpPr>
          <p:cNvPr id="33" name="dot 30"/>
          <p:cNvSpPr/>
          <p:nvPr/>
        </p:nvSpPr>
        <p:spPr>
          <a:xfrm>
            <a:off x="685800" y="2425700"/>
            <a:ext cx="215900" cy="215900"/>
          </a:xfrm>
          <a:prstGeom prst="ellipse">
            <a:avLst/>
          </a:prstGeom>
          <a:solidFill>
            <a:srgbClr val="C9D1D9"/>
          </a:solidFill>
          <a:ln/>
        </p:spPr>
        <p:txBody>
          <a:bodyPr/>
          <a:lstStyle/>
          <a:p>
            <a:endParaRPr lang="en-US"/>
          </a:p>
        </p:txBody>
      </p:sp>
      <p:sp>
        <p:nvSpPr>
          <p:cNvPr id="34" name="dot 31"/>
          <p:cNvSpPr/>
          <p:nvPr/>
        </p:nvSpPr>
        <p:spPr>
          <a:xfrm>
            <a:off x="952500" y="2425700"/>
            <a:ext cx="215900" cy="215900"/>
          </a:xfrm>
          <a:prstGeom prst="ellipse">
            <a:avLst/>
          </a:prstGeom>
          <a:solidFill>
            <a:srgbClr val="C9D1D9"/>
          </a:solidFill>
          <a:ln/>
        </p:spPr>
        <p:txBody>
          <a:bodyPr/>
          <a:lstStyle/>
          <a:p>
            <a:endParaRPr lang="en-US"/>
          </a:p>
        </p:txBody>
      </p:sp>
      <p:sp>
        <p:nvSpPr>
          <p:cNvPr id="35" name="dot 32"/>
          <p:cNvSpPr/>
          <p:nvPr/>
        </p:nvSpPr>
        <p:spPr>
          <a:xfrm>
            <a:off x="1219200" y="2425700"/>
            <a:ext cx="215900" cy="215900"/>
          </a:xfrm>
          <a:prstGeom prst="ellipse">
            <a:avLst/>
          </a:prstGeom>
          <a:solidFill>
            <a:srgbClr val="C9D1D9"/>
          </a:solidFill>
          <a:ln/>
        </p:spPr>
        <p:txBody>
          <a:bodyPr/>
          <a:lstStyle/>
          <a:p>
            <a:endParaRPr lang="en-US"/>
          </a:p>
        </p:txBody>
      </p:sp>
      <p:sp>
        <p:nvSpPr>
          <p:cNvPr id="36" name="dot 33"/>
          <p:cNvSpPr/>
          <p:nvPr/>
        </p:nvSpPr>
        <p:spPr>
          <a:xfrm>
            <a:off x="1485900" y="2425700"/>
            <a:ext cx="215900" cy="215900"/>
          </a:xfrm>
          <a:prstGeom prst="ellipse">
            <a:avLst/>
          </a:prstGeom>
          <a:solidFill>
            <a:srgbClr val="C9D1D9"/>
          </a:solidFill>
          <a:ln/>
        </p:spPr>
        <p:txBody>
          <a:bodyPr/>
          <a:lstStyle/>
          <a:p>
            <a:endParaRPr lang="en-US"/>
          </a:p>
        </p:txBody>
      </p:sp>
      <p:sp>
        <p:nvSpPr>
          <p:cNvPr id="37" name="dot 34"/>
          <p:cNvSpPr/>
          <p:nvPr/>
        </p:nvSpPr>
        <p:spPr>
          <a:xfrm>
            <a:off x="1752600" y="2425700"/>
            <a:ext cx="215900" cy="215900"/>
          </a:xfrm>
          <a:prstGeom prst="ellipse">
            <a:avLst/>
          </a:prstGeom>
          <a:solidFill>
            <a:srgbClr val="C9D1D9"/>
          </a:solidFill>
          <a:ln/>
        </p:spPr>
        <p:txBody>
          <a:bodyPr/>
          <a:lstStyle/>
          <a:p>
            <a:endParaRPr lang="en-US"/>
          </a:p>
        </p:txBody>
      </p:sp>
      <p:sp>
        <p:nvSpPr>
          <p:cNvPr id="38" name="dot 35"/>
          <p:cNvSpPr/>
          <p:nvPr/>
        </p:nvSpPr>
        <p:spPr>
          <a:xfrm>
            <a:off x="2019300" y="2425700"/>
            <a:ext cx="215900" cy="215900"/>
          </a:xfrm>
          <a:prstGeom prst="ellipse">
            <a:avLst/>
          </a:prstGeom>
          <a:solidFill>
            <a:srgbClr val="C9D1D9"/>
          </a:solidFill>
          <a:ln/>
        </p:spPr>
        <p:txBody>
          <a:bodyPr/>
          <a:lstStyle/>
          <a:p>
            <a:endParaRPr lang="en-US"/>
          </a:p>
        </p:txBody>
      </p:sp>
      <p:sp>
        <p:nvSpPr>
          <p:cNvPr id="39" name="dot 36"/>
          <p:cNvSpPr/>
          <p:nvPr/>
        </p:nvSpPr>
        <p:spPr>
          <a:xfrm>
            <a:off x="2286000" y="2425700"/>
            <a:ext cx="215900" cy="215900"/>
          </a:xfrm>
          <a:prstGeom prst="ellipse">
            <a:avLst/>
          </a:prstGeom>
          <a:solidFill>
            <a:srgbClr val="C9D1D9"/>
          </a:solidFill>
          <a:ln/>
        </p:spPr>
        <p:txBody>
          <a:bodyPr/>
          <a:lstStyle/>
          <a:p>
            <a:endParaRPr lang="en-US"/>
          </a:p>
        </p:txBody>
      </p:sp>
      <p:sp>
        <p:nvSpPr>
          <p:cNvPr id="40" name="dot 37"/>
          <p:cNvSpPr/>
          <p:nvPr/>
        </p:nvSpPr>
        <p:spPr>
          <a:xfrm>
            <a:off x="2552700" y="2425700"/>
            <a:ext cx="215900" cy="215900"/>
          </a:xfrm>
          <a:prstGeom prst="ellipse">
            <a:avLst/>
          </a:prstGeom>
          <a:solidFill>
            <a:srgbClr val="C9D1D9"/>
          </a:solidFill>
          <a:ln/>
        </p:spPr>
        <p:txBody>
          <a:bodyPr/>
          <a:lstStyle/>
          <a:p>
            <a:endParaRPr lang="en-US"/>
          </a:p>
        </p:txBody>
      </p:sp>
      <p:sp>
        <p:nvSpPr>
          <p:cNvPr id="41" name="dot 38"/>
          <p:cNvSpPr/>
          <p:nvPr/>
        </p:nvSpPr>
        <p:spPr>
          <a:xfrm>
            <a:off x="2819400" y="2425700"/>
            <a:ext cx="215900" cy="215900"/>
          </a:xfrm>
          <a:prstGeom prst="ellipse">
            <a:avLst/>
          </a:prstGeom>
          <a:solidFill>
            <a:srgbClr val="C9D1D9"/>
          </a:solidFill>
          <a:ln/>
        </p:spPr>
        <p:txBody>
          <a:bodyPr/>
          <a:lstStyle/>
          <a:p>
            <a:endParaRPr lang="en-US"/>
          </a:p>
        </p:txBody>
      </p:sp>
      <p:sp>
        <p:nvSpPr>
          <p:cNvPr id="42" name="dot 39"/>
          <p:cNvSpPr/>
          <p:nvPr/>
        </p:nvSpPr>
        <p:spPr>
          <a:xfrm>
            <a:off x="3086100" y="2425700"/>
            <a:ext cx="215900" cy="215900"/>
          </a:xfrm>
          <a:prstGeom prst="ellipse">
            <a:avLst/>
          </a:prstGeom>
          <a:solidFill>
            <a:srgbClr val="C9D1D9"/>
          </a:solidFill>
          <a:ln/>
        </p:spPr>
        <p:txBody>
          <a:bodyPr/>
          <a:lstStyle/>
          <a:p>
            <a:endParaRPr lang="en-US"/>
          </a:p>
        </p:txBody>
      </p:sp>
      <p:sp>
        <p:nvSpPr>
          <p:cNvPr id="43" name="dot 40"/>
          <p:cNvSpPr/>
          <p:nvPr/>
        </p:nvSpPr>
        <p:spPr>
          <a:xfrm>
            <a:off x="685800" y="2692400"/>
            <a:ext cx="215900" cy="215900"/>
          </a:xfrm>
          <a:prstGeom prst="ellipse">
            <a:avLst/>
          </a:prstGeom>
          <a:solidFill>
            <a:srgbClr val="C9D1D9"/>
          </a:solidFill>
          <a:ln/>
        </p:spPr>
        <p:txBody>
          <a:bodyPr/>
          <a:lstStyle/>
          <a:p>
            <a:endParaRPr lang="en-US"/>
          </a:p>
        </p:txBody>
      </p:sp>
      <p:sp>
        <p:nvSpPr>
          <p:cNvPr id="44" name="dot 41"/>
          <p:cNvSpPr/>
          <p:nvPr/>
        </p:nvSpPr>
        <p:spPr>
          <a:xfrm>
            <a:off x="952500" y="2692400"/>
            <a:ext cx="215900" cy="215900"/>
          </a:xfrm>
          <a:prstGeom prst="ellipse">
            <a:avLst/>
          </a:prstGeom>
          <a:solidFill>
            <a:srgbClr val="C9D1D9"/>
          </a:solidFill>
          <a:ln/>
        </p:spPr>
        <p:txBody>
          <a:bodyPr/>
          <a:lstStyle/>
          <a:p>
            <a:endParaRPr lang="en-US"/>
          </a:p>
        </p:txBody>
      </p:sp>
      <p:sp>
        <p:nvSpPr>
          <p:cNvPr id="45" name="dot 42"/>
          <p:cNvSpPr/>
          <p:nvPr/>
        </p:nvSpPr>
        <p:spPr>
          <a:xfrm>
            <a:off x="1219200" y="2692400"/>
            <a:ext cx="215900" cy="215900"/>
          </a:xfrm>
          <a:prstGeom prst="ellipse">
            <a:avLst/>
          </a:prstGeom>
          <a:solidFill>
            <a:srgbClr val="C9D1D9"/>
          </a:solidFill>
          <a:ln/>
        </p:spPr>
        <p:txBody>
          <a:bodyPr/>
          <a:lstStyle/>
          <a:p>
            <a:endParaRPr lang="en-US"/>
          </a:p>
        </p:txBody>
      </p:sp>
      <p:sp>
        <p:nvSpPr>
          <p:cNvPr id="46" name="dot 43"/>
          <p:cNvSpPr/>
          <p:nvPr/>
        </p:nvSpPr>
        <p:spPr>
          <a:xfrm>
            <a:off x="1485900" y="2692400"/>
            <a:ext cx="215900" cy="215900"/>
          </a:xfrm>
          <a:prstGeom prst="ellipse">
            <a:avLst/>
          </a:prstGeom>
          <a:solidFill>
            <a:srgbClr val="C9D1D9"/>
          </a:solidFill>
          <a:ln/>
        </p:spPr>
        <p:txBody>
          <a:bodyPr/>
          <a:lstStyle/>
          <a:p>
            <a:endParaRPr lang="en-US"/>
          </a:p>
        </p:txBody>
      </p:sp>
      <p:sp>
        <p:nvSpPr>
          <p:cNvPr id="47" name="dot 44"/>
          <p:cNvSpPr/>
          <p:nvPr/>
        </p:nvSpPr>
        <p:spPr>
          <a:xfrm>
            <a:off x="1752600" y="2692400"/>
            <a:ext cx="215900" cy="215900"/>
          </a:xfrm>
          <a:prstGeom prst="ellipse">
            <a:avLst/>
          </a:prstGeom>
          <a:solidFill>
            <a:srgbClr val="C9D1D9"/>
          </a:solidFill>
          <a:ln/>
        </p:spPr>
        <p:txBody>
          <a:bodyPr/>
          <a:lstStyle/>
          <a:p>
            <a:endParaRPr lang="en-US"/>
          </a:p>
        </p:txBody>
      </p:sp>
      <p:sp>
        <p:nvSpPr>
          <p:cNvPr id="48" name="dot 45"/>
          <p:cNvSpPr/>
          <p:nvPr/>
        </p:nvSpPr>
        <p:spPr>
          <a:xfrm>
            <a:off x="2019300" y="2692400"/>
            <a:ext cx="215900" cy="215900"/>
          </a:xfrm>
          <a:prstGeom prst="ellipse">
            <a:avLst/>
          </a:prstGeom>
          <a:solidFill>
            <a:srgbClr val="C9D1D9"/>
          </a:solidFill>
          <a:ln/>
        </p:spPr>
        <p:txBody>
          <a:bodyPr/>
          <a:lstStyle/>
          <a:p>
            <a:endParaRPr lang="en-US"/>
          </a:p>
        </p:txBody>
      </p:sp>
      <p:sp>
        <p:nvSpPr>
          <p:cNvPr id="49" name="dot 46"/>
          <p:cNvSpPr/>
          <p:nvPr/>
        </p:nvSpPr>
        <p:spPr>
          <a:xfrm>
            <a:off x="2286000" y="2692400"/>
            <a:ext cx="215900" cy="215900"/>
          </a:xfrm>
          <a:prstGeom prst="ellipse">
            <a:avLst/>
          </a:prstGeom>
          <a:solidFill>
            <a:srgbClr val="C9D1D9"/>
          </a:solidFill>
          <a:ln/>
        </p:spPr>
        <p:txBody>
          <a:bodyPr/>
          <a:lstStyle/>
          <a:p>
            <a:endParaRPr lang="en-US"/>
          </a:p>
        </p:txBody>
      </p:sp>
      <p:sp>
        <p:nvSpPr>
          <p:cNvPr id="50" name="dot 47"/>
          <p:cNvSpPr/>
          <p:nvPr/>
        </p:nvSpPr>
        <p:spPr>
          <a:xfrm>
            <a:off x="2552700" y="2692400"/>
            <a:ext cx="215900" cy="215900"/>
          </a:xfrm>
          <a:prstGeom prst="ellipse">
            <a:avLst/>
          </a:prstGeom>
          <a:solidFill>
            <a:srgbClr val="C9D1D9"/>
          </a:solidFill>
          <a:ln/>
        </p:spPr>
        <p:txBody>
          <a:bodyPr/>
          <a:lstStyle/>
          <a:p>
            <a:endParaRPr lang="en-US"/>
          </a:p>
        </p:txBody>
      </p:sp>
      <p:sp>
        <p:nvSpPr>
          <p:cNvPr id="51" name="dot 48"/>
          <p:cNvSpPr/>
          <p:nvPr/>
        </p:nvSpPr>
        <p:spPr>
          <a:xfrm>
            <a:off x="2819400" y="2692400"/>
            <a:ext cx="215900" cy="215900"/>
          </a:xfrm>
          <a:prstGeom prst="ellipse">
            <a:avLst/>
          </a:prstGeom>
          <a:solidFill>
            <a:srgbClr val="C9D1D9"/>
          </a:solidFill>
          <a:ln/>
        </p:spPr>
        <p:txBody>
          <a:bodyPr/>
          <a:lstStyle/>
          <a:p>
            <a:endParaRPr lang="en-US"/>
          </a:p>
        </p:txBody>
      </p:sp>
      <p:sp>
        <p:nvSpPr>
          <p:cNvPr id="52" name="dot 49"/>
          <p:cNvSpPr/>
          <p:nvPr/>
        </p:nvSpPr>
        <p:spPr>
          <a:xfrm>
            <a:off x="3086100" y="2692400"/>
            <a:ext cx="215900" cy="215900"/>
          </a:xfrm>
          <a:prstGeom prst="ellipse">
            <a:avLst/>
          </a:prstGeom>
          <a:solidFill>
            <a:srgbClr val="C9D1D9"/>
          </a:solidFill>
          <a:ln/>
        </p:spPr>
        <p:txBody>
          <a:bodyPr/>
          <a:lstStyle/>
          <a:p>
            <a:endParaRPr lang="en-US"/>
          </a:p>
        </p:txBody>
      </p:sp>
      <p:sp>
        <p:nvSpPr>
          <p:cNvPr id="53" name="dot 50"/>
          <p:cNvSpPr/>
          <p:nvPr/>
        </p:nvSpPr>
        <p:spPr>
          <a:xfrm>
            <a:off x="685800" y="2959100"/>
            <a:ext cx="215900" cy="215900"/>
          </a:xfrm>
          <a:prstGeom prst="ellipse">
            <a:avLst/>
          </a:prstGeom>
          <a:solidFill>
            <a:srgbClr val="C9D1D9"/>
          </a:solidFill>
          <a:ln/>
        </p:spPr>
        <p:txBody>
          <a:bodyPr/>
          <a:lstStyle/>
          <a:p>
            <a:endParaRPr lang="en-US"/>
          </a:p>
        </p:txBody>
      </p:sp>
      <p:sp>
        <p:nvSpPr>
          <p:cNvPr id="54" name="dot 51"/>
          <p:cNvSpPr/>
          <p:nvPr/>
        </p:nvSpPr>
        <p:spPr>
          <a:xfrm>
            <a:off x="952500" y="2959100"/>
            <a:ext cx="215900" cy="215900"/>
          </a:xfrm>
          <a:prstGeom prst="ellipse">
            <a:avLst/>
          </a:prstGeom>
          <a:solidFill>
            <a:srgbClr val="C9D1D9"/>
          </a:solidFill>
          <a:ln/>
        </p:spPr>
        <p:txBody>
          <a:bodyPr/>
          <a:lstStyle/>
          <a:p>
            <a:endParaRPr lang="en-US"/>
          </a:p>
        </p:txBody>
      </p:sp>
      <p:sp>
        <p:nvSpPr>
          <p:cNvPr id="55" name="dot 52"/>
          <p:cNvSpPr/>
          <p:nvPr/>
        </p:nvSpPr>
        <p:spPr>
          <a:xfrm>
            <a:off x="1219200" y="2959100"/>
            <a:ext cx="215900" cy="215900"/>
          </a:xfrm>
          <a:prstGeom prst="ellipse">
            <a:avLst/>
          </a:prstGeom>
          <a:solidFill>
            <a:srgbClr val="C9D1D9"/>
          </a:solidFill>
          <a:ln/>
        </p:spPr>
        <p:txBody>
          <a:bodyPr/>
          <a:lstStyle/>
          <a:p>
            <a:endParaRPr lang="en-US"/>
          </a:p>
        </p:txBody>
      </p:sp>
      <p:sp>
        <p:nvSpPr>
          <p:cNvPr id="56" name="dot 53"/>
          <p:cNvSpPr/>
          <p:nvPr/>
        </p:nvSpPr>
        <p:spPr>
          <a:xfrm>
            <a:off x="1485900" y="2959100"/>
            <a:ext cx="215900" cy="215900"/>
          </a:xfrm>
          <a:prstGeom prst="ellipse">
            <a:avLst/>
          </a:prstGeom>
          <a:solidFill>
            <a:srgbClr val="C9D1D9"/>
          </a:solidFill>
          <a:ln/>
        </p:spPr>
        <p:txBody>
          <a:bodyPr/>
          <a:lstStyle/>
          <a:p>
            <a:endParaRPr lang="en-US"/>
          </a:p>
        </p:txBody>
      </p:sp>
      <p:sp>
        <p:nvSpPr>
          <p:cNvPr id="57" name="dot 54"/>
          <p:cNvSpPr/>
          <p:nvPr/>
        </p:nvSpPr>
        <p:spPr>
          <a:xfrm>
            <a:off x="1752600" y="2959100"/>
            <a:ext cx="215900" cy="215900"/>
          </a:xfrm>
          <a:prstGeom prst="ellipse">
            <a:avLst/>
          </a:prstGeom>
          <a:solidFill>
            <a:srgbClr val="C9D1D9"/>
          </a:solidFill>
          <a:ln/>
        </p:spPr>
        <p:txBody>
          <a:bodyPr/>
          <a:lstStyle/>
          <a:p>
            <a:endParaRPr lang="en-US"/>
          </a:p>
        </p:txBody>
      </p:sp>
      <p:sp>
        <p:nvSpPr>
          <p:cNvPr id="58" name="dot 55"/>
          <p:cNvSpPr/>
          <p:nvPr/>
        </p:nvSpPr>
        <p:spPr>
          <a:xfrm>
            <a:off x="2019300" y="2959100"/>
            <a:ext cx="215900" cy="215900"/>
          </a:xfrm>
          <a:prstGeom prst="ellipse">
            <a:avLst/>
          </a:prstGeom>
          <a:solidFill>
            <a:srgbClr val="C9D1D9"/>
          </a:solidFill>
          <a:ln/>
        </p:spPr>
        <p:txBody>
          <a:bodyPr/>
          <a:lstStyle/>
          <a:p>
            <a:endParaRPr lang="en-US"/>
          </a:p>
        </p:txBody>
      </p:sp>
      <p:sp>
        <p:nvSpPr>
          <p:cNvPr id="59" name="dot 56"/>
          <p:cNvSpPr/>
          <p:nvPr/>
        </p:nvSpPr>
        <p:spPr>
          <a:xfrm>
            <a:off x="2286000" y="2959100"/>
            <a:ext cx="215900" cy="215900"/>
          </a:xfrm>
          <a:prstGeom prst="ellipse">
            <a:avLst/>
          </a:prstGeom>
          <a:solidFill>
            <a:srgbClr val="C9D1D9"/>
          </a:solidFill>
          <a:ln/>
        </p:spPr>
        <p:txBody>
          <a:bodyPr/>
          <a:lstStyle/>
          <a:p>
            <a:endParaRPr lang="en-US"/>
          </a:p>
        </p:txBody>
      </p:sp>
      <p:sp>
        <p:nvSpPr>
          <p:cNvPr id="60" name="dot 57"/>
          <p:cNvSpPr/>
          <p:nvPr/>
        </p:nvSpPr>
        <p:spPr>
          <a:xfrm>
            <a:off x="2552700" y="2959100"/>
            <a:ext cx="215900" cy="215900"/>
          </a:xfrm>
          <a:prstGeom prst="ellipse">
            <a:avLst/>
          </a:prstGeom>
          <a:solidFill>
            <a:srgbClr val="C9D1D9"/>
          </a:solidFill>
          <a:ln/>
        </p:spPr>
        <p:txBody>
          <a:bodyPr/>
          <a:lstStyle/>
          <a:p>
            <a:endParaRPr lang="en-US"/>
          </a:p>
        </p:txBody>
      </p:sp>
      <p:sp>
        <p:nvSpPr>
          <p:cNvPr id="61" name="dot 58"/>
          <p:cNvSpPr/>
          <p:nvPr/>
        </p:nvSpPr>
        <p:spPr>
          <a:xfrm>
            <a:off x="2819400" y="2959100"/>
            <a:ext cx="215900" cy="215900"/>
          </a:xfrm>
          <a:prstGeom prst="ellipse">
            <a:avLst/>
          </a:prstGeom>
          <a:solidFill>
            <a:srgbClr val="C9D1D9"/>
          </a:solidFill>
          <a:ln/>
        </p:spPr>
        <p:txBody>
          <a:bodyPr/>
          <a:lstStyle/>
          <a:p>
            <a:endParaRPr lang="en-US"/>
          </a:p>
        </p:txBody>
      </p:sp>
      <p:sp>
        <p:nvSpPr>
          <p:cNvPr id="62" name="dot 59"/>
          <p:cNvSpPr/>
          <p:nvPr/>
        </p:nvSpPr>
        <p:spPr>
          <a:xfrm>
            <a:off x="3086100" y="2959100"/>
            <a:ext cx="215900" cy="215900"/>
          </a:xfrm>
          <a:prstGeom prst="ellipse">
            <a:avLst/>
          </a:prstGeom>
          <a:solidFill>
            <a:srgbClr val="C9D1D9"/>
          </a:solidFill>
          <a:ln/>
        </p:spPr>
        <p:txBody>
          <a:bodyPr/>
          <a:lstStyle/>
          <a:p>
            <a:endParaRPr lang="en-US"/>
          </a:p>
        </p:txBody>
      </p:sp>
      <p:sp>
        <p:nvSpPr>
          <p:cNvPr id="63" name="dot 60"/>
          <p:cNvSpPr/>
          <p:nvPr/>
        </p:nvSpPr>
        <p:spPr>
          <a:xfrm>
            <a:off x="685800" y="3225800"/>
            <a:ext cx="215900" cy="215900"/>
          </a:xfrm>
          <a:prstGeom prst="ellipse">
            <a:avLst/>
          </a:prstGeom>
          <a:solidFill>
            <a:srgbClr val="C9D1D9"/>
          </a:solidFill>
          <a:ln/>
        </p:spPr>
        <p:txBody>
          <a:bodyPr/>
          <a:lstStyle/>
          <a:p>
            <a:endParaRPr lang="en-US"/>
          </a:p>
        </p:txBody>
      </p:sp>
      <p:sp>
        <p:nvSpPr>
          <p:cNvPr id="64" name="dot 61"/>
          <p:cNvSpPr/>
          <p:nvPr/>
        </p:nvSpPr>
        <p:spPr>
          <a:xfrm>
            <a:off x="952500" y="3225800"/>
            <a:ext cx="215900" cy="215900"/>
          </a:xfrm>
          <a:prstGeom prst="ellipse">
            <a:avLst/>
          </a:prstGeom>
          <a:solidFill>
            <a:srgbClr val="C9D1D9"/>
          </a:solidFill>
          <a:ln/>
        </p:spPr>
        <p:txBody>
          <a:bodyPr/>
          <a:lstStyle/>
          <a:p>
            <a:endParaRPr lang="en-US"/>
          </a:p>
        </p:txBody>
      </p:sp>
      <p:sp>
        <p:nvSpPr>
          <p:cNvPr id="65" name="dot 62"/>
          <p:cNvSpPr/>
          <p:nvPr/>
        </p:nvSpPr>
        <p:spPr>
          <a:xfrm>
            <a:off x="1219200" y="3225800"/>
            <a:ext cx="215900" cy="215900"/>
          </a:xfrm>
          <a:prstGeom prst="ellipse">
            <a:avLst/>
          </a:prstGeom>
          <a:solidFill>
            <a:srgbClr val="C9D1D9"/>
          </a:solidFill>
          <a:ln/>
        </p:spPr>
        <p:txBody>
          <a:bodyPr/>
          <a:lstStyle/>
          <a:p>
            <a:endParaRPr lang="en-US"/>
          </a:p>
        </p:txBody>
      </p:sp>
      <p:sp>
        <p:nvSpPr>
          <p:cNvPr id="66" name="dot 63"/>
          <p:cNvSpPr/>
          <p:nvPr/>
        </p:nvSpPr>
        <p:spPr>
          <a:xfrm>
            <a:off x="1485900" y="3225800"/>
            <a:ext cx="215900" cy="215900"/>
          </a:xfrm>
          <a:prstGeom prst="ellipse">
            <a:avLst/>
          </a:prstGeom>
          <a:solidFill>
            <a:srgbClr val="C9D1D9"/>
          </a:solidFill>
          <a:ln/>
        </p:spPr>
        <p:txBody>
          <a:bodyPr/>
          <a:lstStyle/>
          <a:p>
            <a:endParaRPr lang="en-US"/>
          </a:p>
        </p:txBody>
      </p:sp>
      <p:sp>
        <p:nvSpPr>
          <p:cNvPr id="67" name="dot 64"/>
          <p:cNvSpPr/>
          <p:nvPr/>
        </p:nvSpPr>
        <p:spPr>
          <a:xfrm>
            <a:off x="1752600" y="3225800"/>
            <a:ext cx="215900" cy="215900"/>
          </a:xfrm>
          <a:prstGeom prst="ellipse">
            <a:avLst/>
          </a:prstGeom>
          <a:solidFill>
            <a:srgbClr val="C9D1D9"/>
          </a:solidFill>
          <a:ln/>
        </p:spPr>
        <p:txBody>
          <a:bodyPr/>
          <a:lstStyle/>
          <a:p>
            <a:endParaRPr lang="en-US"/>
          </a:p>
        </p:txBody>
      </p:sp>
      <p:sp>
        <p:nvSpPr>
          <p:cNvPr id="68" name="dot 65"/>
          <p:cNvSpPr/>
          <p:nvPr/>
        </p:nvSpPr>
        <p:spPr>
          <a:xfrm>
            <a:off x="2019300" y="3225800"/>
            <a:ext cx="215900" cy="215900"/>
          </a:xfrm>
          <a:prstGeom prst="ellipse">
            <a:avLst/>
          </a:prstGeom>
          <a:solidFill>
            <a:srgbClr val="C9D1D9"/>
          </a:solidFill>
          <a:ln/>
        </p:spPr>
        <p:txBody>
          <a:bodyPr/>
          <a:lstStyle/>
          <a:p>
            <a:endParaRPr lang="en-US"/>
          </a:p>
        </p:txBody>
      </p:sp>
      <p:sp>
        <p:nvSpPr>
          <p:cNvPr id="69" name="dot 66"/>
          <p:cNvSpPr/>
          <p:nvPr/>
        </p:nvSpPr>
        <p:spPr>
          <a:xfrm>
            <a:off x="2286000" y="3225800"/>
            <a:ext cx="215900" cy="215900"/>
          </a:xfrm>
          <a:prstGeom prst="ellipse">
            <a:avLst/>
          </a:prstGeom>
          <a:solidFill>
            <a:srgbClr val="C9D1D9"/>
          </a:solidFill>
          <a:ln/>
        </p:spPr>
        <p:txBody>
          <a:bodyPr/>
          <a:lstStyle/>
          <a:p>
            <a:endParaRPr lang="en-US"/>
          </a:p>
        </p:txBody>
      </p:sp>
      <p:sp>
        <p:nvSpPr>
          <p:cNvPr id="70" name="dot 67"/>
          <p:cNvSpPr/>
          <p:nvPr/>
        </p:nvSpPr>
        <p:spPr>
          <a:xfrm>
            <a:off x="2552700" y="3225800"/>
            <a:ext cx="215900" cy="215900"/>
          </a:xfrm>
          <a:prstGeom prst="ellipse">
            <a:avLst/>
          </a:prstGeom>
          <a:solidFill>
            <a:srgbClr val="C9D1D9"/>
          </a:solidFill>
          <a:ln/>
        </p:spPr>
        <p:txBody>
          <a:bodyPr/>
          <a:lstStyle/>
          <a:p>
            <a:endParaRPr lang="en-US"/>
          </a:p>
        </p:txBody>
      </p:sp>
      <p:sp>
        <p:nvSpPr>
          <p:cNvPr id="71" name="dot 68"/>
          <p:cNvSpPr/>
          <p:nvPr/>
        </p:nvSpPr>
        <p:spPr>
          <a:xfrm>
            <a:off x="2819400" y="3225800"/>
            <a:ext cx="215900" cy="215900"/>
          </a:xfrm>
          <a:prstGeom prst="ellipse">
            <a:avLst/>
          </a:prstGeom>
          <a:solidFill>
            <a:srgbClr val="C9D1D9"/>
          </a:solidFill>
          <a:ln/>
        </p:spPr>
        <p:txBody>
          <a:bodyPr/>
          <a:lstStyle/>
          <a:p>
            <a:endParaRPr lang="en-US"/>
          </a:p>
        </p:txBody>
      </p:sp>
      <p:sp>
        <p:nvSpPr>
          <p:cNvPr id="72" name="dot 69"/>
          <p:cNvSpPr/>
          <p:nvPr/>
        </p:nvSpPr>
        <p:spPr>
          <a:xfrm>
            <a:off x="3086100" y="3225800"/>
            <a:ext cx="215900" cy="215900"/>
          </a:xfrm>
          <a:prstGeom prst="ellipse">
            <a:avLst/>
          </a:prstGeom>
          <a:solidFill>
            <a:srgbClr val="C9D1D9"/>
          </a:solidFill>
          <a:ln/>
        </p:spPr>
        <p:txBody>
          <a:bodyPr/>
          <a:lstStyle/>
          <a:p>
            <a:endParaRPr lang="en-US"/>
          </a:p>
        </p:txBody>
      </p:sp>
      <p:sp>
        <p:nvSpPr>
          <p:cNvPr id="73" name="dot 70"/>
          <p:cNvSpPr/>
          <p:nvPr/>
        </p:nvSpPr>
        <p:spPr>
          <a:xfrm>
            <a:off x="685800" y="3492500"/>
            <a:ext cx="215900" cy="215900"/>
          </a:xfrm>
          <a:prstGeom prst="ellipse">
            <a:avLst/>
          </a:prstGeom>
          <a:solidFill>
            <a:srgbClr val="C9D1D9"/>
          </a:solidFill>
          <a:ln/>
        </p:spPr>
        <p:txBody>
          <a:bodyPr/>
          <a:lstStyle/>
          <a:p>
            <a:endParaRPr lang="en-US"/>
          </a:p>
        </p:txBody>
      </p:sp>
      <p:sp>
        <p:nvSpPr>
          <p:cNvPr id="74" name="dot 71"/>
          <p:cNvSpPr/>
          <p:nvPr/>
        </p:nvSpPr>
        <p:spPr>
          <a:xfrm>
            <a:off x="952500" y="3492500"/>
            <a:ext cx="215900" cy="215900"/>
          </a:xfrm>
          <a:prstGeom prst="ellipse">
            <a:avLst/>
          </a:prstGeom>
          <a:solidFill>
            <a:srgbClr val="C9D1D9"/>
          </a:solidFill>
          <a:ln/>
        </p:spPr>
        <p:txBody>
          <a:bodyPr/>
          <a:lstStyle/>
          <a:p>
            <a:endParaRPr lang="en-US"/>
          </a:p>
        </p:txBody>
      </p:sp>
      <p:sp>
        <p:nvSpPr>
          <p:cNvPr id="75" name="dot 72"/>
          <p:cNvSpPr/>
          <p:nvPr/>
        </p:nvSpPr>
        <p:spPr>
          <a:xfrm>
            <a:off x="1219200" y="3492500"/>
            <a:ext cx="215900" cy="215900"/>
          </a:xfrm>
          <a:prstGeom prst="ellipse">
            <a:avLst/>
          </a:prstGeom>
          <a:solidFill>
            <a:srgbClr val="C9D1D9"/>
          </a:solidFill>
          <a:ln/>
        </p:spPr>
        <p:txBody>
          <a:bodyPr/>
          <a:lstStyle/>
          <a:p>
            <a:endParaRPr lang="en-US"/>
          </a:p>
        </p:txBody>
      </p:sp>
      <p:sp>
        <p:nvSpPr>
          <p:cNvPr id="76" name="dot 73"/>
          <p:cNvSpPr/>
          <p:nvPr/>
        </p:nvSpPr>
        <p:spPr>
          <a:xfrm>
            <a:off x="1485900" y="3492500"/>
            <a:ext cx="215900" cy="215900"/>
          </a:xfrm>
          <a:prstGeom prst="ellipse">
            <a:avLst/>
          </a:prstGeom>
          <a:solidFill>
            <a:srgbClr val="C9D1D9"/>
          </a:solidFill>
          <a:ln/>
        </p:spPr>
        <p:txBody>
          <a:bodyPr/>
          <a:lstStyle/>
          <a:p>
            <a:endParaRPr lang="en-US"/>
          </a:p>
        </p:txBody>
      </p:sp>
      <p:sp>
        <p:nvSpPr>
          <p:cNvPr id="77" name="dot 74"/>
          <p:cNvSpPr/>
          <p:nvPr/>
        </p:nvSpPr>
        <p:spPr>
          <a:xfrm>
            <a:off x="1752600" y="3492500"/>
            <a:ext cx="215900" cy="215900"/>
          </a:xfrm>
          <a:prstGeom prst="ellipse">
            <a:avLst/>
          </a:prstGeom>
          <a:solidFill>
            <a:srgbClr val="C9D1D9"/>
          </a:solidFill>
          <a:ln/>
        </p:spPr>
        <p:txBody>
          <a:bodyPr/>
          <a:lstStyle/>
          <a:p>
            <a:endParaRPr lang="en-US"/>
          </a:p>
        </p:txBody>
      </p:sp>
      <p:sp>
        <p:nvSpPr>
          <p:cNvPr id="78" name="dot 75"/>
          <p:cNvSpPr/>
          <p:nvPr/>
        </p:nvSpPr>
        <p:spPr>
          <a:xfrm>
            <a:off x="2019300" y="3492500"/>
            <a:ext cx="215900" cy="215900"/>
          </a:xfrm>
          <a:prstGeom prst="ellipse">
            <a:avLst/>
          </a:prstGeom>
          <a:solidFill>
            <a:srgbClr val="C9D1D9"/>
          </a:solidFill>
          <a:ln/>
        </p:spPr>
        <p:txBody>
          <a:bodyPr/>
          <a:lstStyle/>
          <a:p>
            <a:endParaRPr lang="en-US"/>
          </a:p>
        </p:txBody>
      </p:sp>
      <p:sp>
        <p:nvSpPr>
          <p:cNvPr id="79" name="dot 76"/>
          <p:cNvSpPr/>
          <p:nvPr/>
        </p:nvSpPr>
        <p:spPr>
          <a:xfrm>
            <a:off x="2286000" y="3492500"/>
            <a:ext cx="215900" cy="215900"/>
          </a:xfrm>
          <a:prstGeom prst="ellipse">
            <a:avLst/>
          </a:prstGeom>
          <a:solidFill>
            <a:srgbClr val="C9D1D9"/>
          </a:solidFill>
          <a:ln/>
        </p:spPr>
        <p:txBody>
          <a:bodyPr/>
          <a:lstStyle/>
          <a:p>
            <a:endParaRPr lang="en-US"/>
          </a:p>
        </p:txBody>
      </p:sp>
      <p:sp>
        <p:nvSpPr>
          <p:cNvPr id="80" name="dot 77"/>
          <p:cNvSpPr/>
          <p:nvPr/>
        </p:nvSpPr>
        <p:spPr>
          <a:xfrm>
            <a:off x="2552700" y="3492500"/>
            <a:ext cx="215900" cy="215900"/>
          </a:xfrm>
          <a:prstGeom prst="ellipse">
            <a:avLst/>
          </a:prstGeom>
          <a:solidFill>
            <a:srgbClr val="C9D1D9"/>
          </a:solidFill>
          <a:ln/>
        </p:spPr>
        <p:txBody>
          <a:bodyPr/>
          <a:lstStyle/>
          <a:p>
            <a:endParaRPr lang="en-US"/>
          </a:p>
        </p:txBody>
      </p:sp>
      <p:sp>
        <p:nvSpPr>
          <p:cNvPr id="81" name="dot 78"/>
          <p:cNvSpPr/>
          <p:nvPr/>
        </p:nvSpPr>
        <p:spPr>
          <a:xfrm>
            <a:off x="2819400" y="3492500"/>
            <a:ext cx="215900" cy="215900"/>
          </a:xfrm>
          <a:prstGeom prst="ellipse">
            <a:avLst/>
          </a:prstGeom>
          <a:solidFill>
            <a:srgbClr val="C9D1D9"/>
          </a:solidFill>
          <a:ln/>
        </p:spPr>
        <p:txBody>
          <a:bodyPr/>
          <a:lstStyle/>
          <a:p>
            <a:endParaRPr lang="en-US"/>
          </a:p>
        </p:txBody>
      </p:sp>
      <p:sp>
        <p:nvSpPr>
          <p:cNvPr id="82" name="dot 79"/>
          <p:cNvSpPr/>
          <p:nvPr/>
        </p:nvSpPr>
        <p:spPr>
          <a:xfrm>
            <a:off x="3086100" y="3492500"/>
            <a:ext cx="215900" cy="215900"/>
          </a:xfrm>
          <a:prstGeom prst="ellipse">
            <a:avLst/>
          </a:prstGeom>
          <a:solidFill>
            <a:srgbClr val="C9D1D9"/>
          </a:solidFill>
          <a:ln/>
        </p:spPr>
        <p:txBody>
          <a:bodyPr/>
          <a:lstStyle/>
          <a:p>
            <a:endParaRPr lang="en-US"/>
          </a:p>
        </p:txBody>
      </p:sp>
      <p:sp>
        <p:nvSpPr>
          <p:cNvPr id="83" name="dot 80"/>
          <p:cNvSpPr/>
          <p:nvPr/>
        </p:nvSpPr>
        <p:spPr>
          <a:xfrm>
            <a:off x="685800" y="3759200"/>
            <a:ext cx="215900" cy="215900"/>
          </a:xfrm>
          <a:prstGeom prst="ellipse">
            <a:avLst/>
          </a:prstGeom>
          <a:solidFill>
            <a:srgbClr val="C9D1D9"/>
          </a:solidFill>
          <a:ln/>
        </p:spPr>
        <p:txBody>
          <a:bodyPr/>
          <a:lstStyle/>
          <a:p>
            <a:endParaRPr lang="en-US"/>
          </a:p>
        </p:txBody>
      </p:sp>
      <p:sp>
        <p:nvSpPr>
          <p:cNvPr id="84" name="dot 81"/>
          <p:cNvSpPr/>
          <p:nvPr/>
        </p:nvSpPr>
        <p:spPr>
          <a:xfrm>
            <a:off x="952500" y="3759200"/>
            <a:ext cx="215900" cy="215900"/>
          </a:xfrm>
          <a:prstGeom prst="ellipse">
            <a:avLst/>
          </a:prstGeom>
          <a:solidFill>
            <a:srgbClr val="C9D1D9"/>
          </a:solidFill>
          <a:ln/>
        </p:spPr>
        <p:txBody>
          <a:bodyPr/>
          <a:lstStyle/>
          <a:p>
            <a:endParaRPr lang="en-US"/>
          </a:p>
        </p:txBody>
      </p:sp>
      <p:sp>
        <p:nvSpPr>
          <p:cNvPr id="85" name="dot 82"/>
          <p:cNvSpPr/>
          <p:nvPr/>
        </p:nvSpPr>
        <p:spPr>
          <a:xfrm>
            <a:off x="1219200" y="3759200"/>
            <a:ext cx="215900" cy="215900"/>
          </a:xfrm>
          <a:prstGeom prst="ellipse">
            <a:avLst/>
          </a:prstGeom>
          <a:solidFill>
            <a:srgbClr val="C9D1D9"/>
          </a:solidFill>
          <a:ln/>
        </p:spPr>
        <p:txBody>
          <a:bodyPr/>
          <a:lstStyle/>
          <a:p>
            <a:endParaRPr lang="en-US"/>
          </a:p>
        </p:txBody>
      </p:sp>
      <p:sp>
        <p:nvSpPr>
          <p:cNvPr id="86" name="dot 83"/>
          <p:cNvSpPr/>
          <p:nvPr/>
        </p:nvSpPr>
        <p:spPr>
          <a:xfrm>
            <a:off x="1485900" y="3759200"/>
            <a:ext cx="215900" cy="215900"/>
          </a:xfrm>
          <a:prstGeom prst="ellipse">
            <a:avLst/>
          </a:prstGeom>
          <a:solidFill>
            <a:srgbClr val="C9D1D9"/>
          </a:solidFill>
          <a:ln/>
        </p:spPr>
        <p:txBody>
          <a:bodyPr/>
          <a:lstStyle/>
          <a:p>
            <a:endParaRPr lang="en-US"/>
          </a:p>
        </p:txBody>
      </p:sp>
      <p:sp>
        <p:nvSpPr>
          <p:cNvPr id="87" name="dot 84"/>
          <p:cNvSpPr/>
          <p:nvPr/>
        </p:nvSpPr>
        <p:spPr>
          <a:xfrm>
            <a:off x="1752600" y="3759200"/>
            <a:ext cx="215900" cy="215900"/>
          </a:xfrm>
          <a:prstGeom prst="ellipse">
            <a:avLst/>
          </a:prstGeom>
          <a:solidFill>
            <a:srgbClr val="C9D1D9"/>
          </a:solidFill>
          <a:ln/>
        </p:spPr>
        <p:txBody>
          <a:bodyPr/>
          <a:lstStyle/>
          <a:p>
            <a:endParaRPr lang="en-US"/>
          </a:p>
        </p:txBody>
      </p:sp>
      <p:sp>
        <p:nvSpPr>
          <p:cNvPr id="88" name="dot 85"/>
          <p:cNvSpPr/>
          <p:nvPr/>
        </p:nvSpPr>
        <p:spPr>
          <a:xfrm>
            <a:off x="2019300" y="3759200"/>
            <a:ext cx="215900" cy="215900"/>
          </a:xfrm>
          <a:prstGeom prst="ellipse">
            <a:avLst/>
          </a:prstGeom>
          <a:solidFill>
            <a:srgbClr val="C9D1D9"/>
          </a:solidFill>
          <a:ln/>
        </p:spPr>
        <p:txBody>
          <a:bodyPr/>
          <a:lstStyle/>
          <a:p>
            <a:endParaRPr lang="en-US"/>
          </a:p>
        </p:txBody>
      </p:sp>
      <p:sp>
        <p:nvSpPr>
          <p:cNvPr id="89" name="dot 86"/>
          <p:cNvSpPr/>
          <p:nvPr/>
        </p:nvSpPr>
        <p:spPr>
          <a:xfrm>
            <a:off x="2286000" y="3759200"/>
            <a:ext cx="215900" cy="215900"/>
          </a:xfrm>
          <a:prstGeom prst="ellipse">
            <a:avLst/>
          </a:prstGeom>
          <a:solidFill>
            <a:srgbClr val="C9D1D9"/>
          </a:solidFill>
          <a:ln/>
        </p:spPr>
        <p:txBody>
          <a:bodyPr/>
          <a:lstStyle/>
          <a:p>
            <a:endParaRPr lang="en-US"/>
          </a:p>
        </p:txBody>
      </p:sp>
      <p:sp>
        <p:nvSpPr>
          <p:cNvPr id="90" name="dot 87"/>
          <p:cNvSpPr/>
          <p:nvPr/>
        </p:nvSpPr>
        <p:spPr>
          <a:xfrm>
            <a:off x="2552700" y="3759200"/>
            <a:ext cx="215900" cy="215900"/>
          </a:xfrm>
          <a:prstGeom prst="ellipse">
            <a:avLst/>
          </a:prstGeom>
          <a:solidFill>
            <a:srgbClr val="C9D1D9"/>
          </a:solidFill>
          <a:ln/>
        </p:spPr>
        <p:txBody>
          <a:bodyPr/>
          <a:lstStyle/>
          <a:p>
            <a:endParaRPr lang="en-US"/>
          </a:p>
        </p:txBody>
      </p:sp>
      <p:sp>
        <p:nvSpPr>
          <p:cNvPr id="91" name="dot 88"/>
          <p:cNvSpPr/>
          <p:nvPr/>
        </p:nvSpPr>
        <p:spPr>
          <a:xfrm>
            <a:off x="2819400" y="3759200"/>
            <a:ext cx="215900" cy="215900"/>
          </a:xfrm>
          <a:prstGeom prst="ellipse">
            <a:avLst/>
          </a:prstGeom>
          <a:solidFill>
            <a:srgbClr val="C9D1D9"/>
          </a:solidFill>
          <a:ln/>
        </p:spPr>
        <p:txBody>
          <a:bodyPr/>
          <a:lstStyle/>
          <a:p>
            <a:endParaRPr lang="en-US"/>
          </a:p>
        </p:txBody>
      </p:sp>
      <p:sp>
        <p:nvSpPr>
          <p:cNvPr id="92" name="dot 89"/>
          <p:cNvSpPr/>
          <p:nvPr/>
        </p:nvSpPr>
        <p:spPr>
          <a:xfrm>
            <a:off x="3086100" y="3759200"/>
            <a:ext cx="215900" cy="215900"/>
          </a:xfrm>
          <a:prstGeom prst="ellipse">
            <a:avLst/>
          </a:prstGeom>
          <a:solidFill>
            <a:srgbClr val="C9D1D9"/>
          </a:solidFill>
          <a:ln/>
        </p:spPr>
        <p:txBody>
          <a:bodyPr/>
          <a:lstStyle/>
          <a:p>
            <a:endParaRPr lang="en-US"/>
          </a:p>
        </p:txBody>
      </p:sp>
      <p:sp>
        <p:nvSpPr>
          <p:cNvPr id="93" name="dot 90"/>
          <p:cNvSpPr/>
          <p:nvPr/>
        </p:nvSpPr>
        <p:spPr>
          <a:xfrm>
            <a:off x="685800" y="4025900"/>
            <a:ext cx="215900" cy="215900"/>
          </a:xfrm>
          <a:prstGeom prst="ellipse">
            <a:avLst/>
          </a:prstGeom>
          <a:solidFill>
            <a:srgbClr val="C9D1D9"/>
          </a:solidFill>
          <a:ln/>
        </p:spPr>
        <p:txBody>
          <a:bodyPr/>
          <a:lstStyle/>
          <a:p>
            <a:endParaRPr lang="en-US"/>
          </a:p>
        </p:txBody>
      </p:sp>
      <p:sp>
        <p:nvSpPr>
          <p:cNvPr id="94" name="dot 91"/>
          <p:cNvSpPr/>
          <p:nvPr/>
        </p:nvSpPr>
        <p:spPr>
          <a:xfrm>
            <a:off x="952500" y="4025900"/>
            <a:ext cx="215900" cy="215900"/>
          </a:xfrm>
          <a:prstGeom prst="ellipse">
            <a:avLst/>
          </a:prstGeom>
          <a:solidFill>
            <a:srgbClr val="C9D1D9"/>
          </a:solidFill>
          <a:ln/>
        </p:spPr>
        <p:txBody>
          <a:bodyPr/>
          <a:lstStyle/>
          <a:p>
            <a:endParaRPr lang="en-US"/>
          </a:p>
        </p:txBody>
      </p:sp>
      <p:sp>
        <p:nvSpPr>
          <p:cNvPr id="95" name="dot 92"/>
          <p:cNvSpPr/>
          <p:nvPr/>
        </p:nvSpPr>
        <p:spPr>
          <a:xfrm>
            <a:off x="1219200" y="4025900"/>
            <a:ext cx="215900" cy="215900"/>
          </a:xfrm>
          <a:prstGeom prst="ellipse">
            <a:avLst/>
          </a:prstGeom>
          <a:solidFill>
            <a:srgbClr val="C9D1D9"/>
          </a:solidFill>
          <a:ln/>
        </p:spPr>
        <p:txBody>
          <a:bodyPr/>
          <a:lstStyle/>
          <a:p>
            <a:endParaRPr lang="en-US"/>
          </a:p>
        </p:txBody>
      </p:sp>
      <p:sp>
        <p:nvSpPr>
          <p:cNvPr id="96" name="dot 93"/>
          <p:cNvSpPr/>
          <p:nvPr/>
        </p:nvSpPr>
        <p:spPr>
          <a:xfrm>
            <a:off x="1485900" y="4025900"/>
            <a:ext cx="215900" cy="215900"/>
          </a:xfrm>
          <a:prstGeom prst="ellipse">
            <a:avLst/>
          </a:prstGeom>
          <a:solidFill>
            <a:srgbClr val="C9D1D9"/>
          </a:solidFill>
          <a:ln/>
        </p:spPr>
        <p:txBody>
          <a:bodyPr/>
          <a:lstStyle/>
          <a:p>
            <a:endParaRPr lang="en-US"/>
          </a:p>
        </p:txBody>
      </p:sp>
      <p:sp>
        <p:nvSpPr>
          <p:cNvPr id="97" name="dot 94"/>
          <p:cNvSpPr/>
          <p:nvPr/>
        </p:nvSpPr>
        <p:spPr>
          <a:xfrm>
            <a:off x="1752600" y="4025900"/>
            <a:ext cx="215900" cy="215900"/>
          </a:xfrm>
          <a:prstGeom prst="ellipse">
            <a:avLst/>
          </a:prstGeom>
          <a:solidFill>
            <a:srgbClr val="C9D1D9"/>
          </a:solidFill>
          <a:ln/>
        </p:spPr>
        <p:txBody>
          <a:bodyPr/>
          <a:lstStyle/>
          <a:p>
            <a:endParaRPr lang="en-US"/>
          </a:p>
        </p:txBody>
      </p:sp>
      <p:sp>
        <p:nvSpPr>
          <p:cNvPr id="98" name="dot 95"/>
          <p:cNvSpPr/>
          <p:nvPr/>
        </p:nvSpPr>
        <p:spPr>
          <a:xfrm>
            <a:off x="2019300" y="4025900"/>
            <a:ext cx="215900" cy="215900"/>
          </a:xfrm>
          <a:prstGeom prst="ellipse">
            <a:avLst/>
          </a:prstGeom>
          <a:solidFill>
            <a:srgbClr val="C9D1D9"/>
          </a:solidFill>
          <a:ln/>
        </p:spPr>
        <p:txBody>
          <a:bodyPr/>
          <a:lstStyle/>
          <a:p>
            <a:endParaRPr lang="en-US"/>
          </a:p>
        </p:txBody>
      </p:sp>
      <p:sp>
        <p:nvSpPr>
          <p:cNvPr id="99" name="dot 96"/>
          <p:cNvSpPr/>
          <p:nvPr/>
        </p:nvSpPr>
        <p:spPr>
          <a:xfrm>
            <a:off x="2286000" y="4025900"/>
            <a:ext cx="215900" cy="215900"/>
          </a:xfrm>
          <a:prstGeom prst="ellipse">
            <a:avLst/>
          </a:prstGeom>
          <a:solidFill>
            <a:srgbClr val="C9D1D9"/>
          </a:solidFill>
          <a:ln/>
        </p:spPr>
        <p:txBody>
          <a:bodyPr/>
          <a:lstStyle/>
          <a:p>
            <a:endParaRPr lang="en-US"/>
          </a:p>
        </p:txBody>
      </p:sp>
      <p:sp>
        <p:nvSpPr>
          <p:cNvPr id="100" name="dot 97"/>
          <p:cNvSpPr/>
          <p:nvPr/>
        </p:nvSpPr>
        <p:spPr>
          <a:xfrm>
            <a:off x="2552700" y="4025900"/>
            <a:ext cx="215900" cy="215900"/>
          </a:xfrm>
          <a:prstGeom prst="ellipse">
            <a:avLst/>
          </a:prstGeom>
          <a:solidFill>
            <a:srgbClr val="C9D1D9"/>
          </a:solidFill>
          <a:ln/>
        </p:spPr>
        <p:txBody>
          <a:bodyPr/>
          <a:lstStyle/>
          <a:p>
            <a:endParaRPr lang="en-US"/>
          </a:p>
        </p:txBody>
      </p:sp>
      <p:sp>
        <p:nvSpPr>
          <p:cNvPr id="101" name="dot 98"/>
          <p:cNvSpPr/>
          <p:nvPr/>
        </p:nvSpPr>
        <p:spPr>
          <a:xfrm>
            <a:off x="2819400" y="4025900"/>
            <a:ext cx="215900" cy="215900"/>
          </a:xfrm>
          <a:prstGeom prst="ellipse">
            <a:avLst/>
          </a:prstGeom>
          <a:solidFill>
            <a:srgbClr val="C9D1D9"/>
          </a:solidFill>
          <a:ln/>
        </p:spPr>
        <p:txBody>
          <a:bodyPr/>
          <a:lstStyle/>
          <a:p>
            <a:endParaRPr lang="en-US"/>
          </a:p>
        </p:txBody>
      </p:sp>
      <p:sp>
        <p:nvSpPr>
          <p:cNvPr id="102" name="dot 99"/>
          <p:cNvSpPr/>
          <p:nvPr/>
        </p:nvSpPr>
        <p:spPr>
          <a:xfrm>
            <a:off x="3086100" y="4025900"/>
            <a:ext cx="215900" cy="215900"/>
          </a:xfrm>
          <a:prstGeom prst="ellipse">
            <a:avLst/>
          </a:prstGeom>
          <a:solidFill>
            <a:srgbClr val="C9D1D9"/>
          </a:solidFill>
          <a:ln/>
        </p:spPr>
        <p:txBody>
          <a:bodyPr/>
          <a:lstStyle/>
          <a:p>
            <a:endParaRPr lang="en-US"/>
          </a:p>
        </p:txBody>
      </p:sp>
      <p:sp>
        <p:nvSpPr>
          <p:cNvPr id="103" name="Text 101"/>
          <p:cNvSpPr txBox="1"/>
          <p:nvPr/>
        </p:nvSpPr>
        <p:spPr>
          <a:xfrm>
            <a:off x="685800" y="5207000"/>
            <a:ext cx="4206240" cy="822960"/>
          </a:xfrm>
          <a:prstGeom prst="rect">
            <a:avLst/>
          </a:prstGeom>
          <a:noFill/>
          <a:ln/>
        </p:spPr>
        <p:txBody>
          <a:bodyPr wrap="square" lIns="0" tIns="0" rIns="0" bIns="0" rtlCol="0" anchor="t"/>
          <a:lstStyle/>
          <a:p>
            <a:pPr marL="0" indent="0">
              <a:buNone/>
            </a:pPr>
            <a:r>
              <a:rPr lang="en-US" sz="2800" b="1" dirty="0">
                <a:solidFill>
                  <a:srgbClr val="B83227"/>
                </a:solidFill>
              </a:rPr>
              <a:t>8.07%</a:t>
            </a:r>
            <a:r>
              <a:rPr lang="en-US" sz="1800" dirty="0">
                <a:solidFill>
                  <a:schemeClr val="tx1"/>
                </a:solidFill>
              </a:rPr>
              <a:t> of 307,511 borrowers had payment difficulty</a:t>
            </a:r>
            <a:endParaRPr lang="en-US" sz="1800" dirty="0"/>
          </a:p>
        </p:txBody>
      </p:sp>
      <p:sp>
        <p:nvSpPr>
          <p:cNvPr id="104" name="what is card"/>
          <p:cNvSpPr/>
          <p:nvPr/>
        </p:nvSpPr>
        <p:spPr>
          <a:xfrm>
            <a:off x="5257800" y="1600200"/>
            <a:ext cx="3017520" cy="4206240"/>
          </a:xfrm>
          <a:prstGeom prst="roundRect">
            <a:avLst>
              <a:gd name="adj" fmla="val 3636"/>
            </a:avLst>
          </a:prstGeom>
          <a:solidFill>
            <a:schemeClr val="bg2"/>
          </a:solidFill>
          <a:ln/>
        </p:spPr>
        <p:txBody>
          <a:bodyPr/>
          <a:lstStyle/>
          <a:p>
            <a:endParaRPr lang="en-US"/>
          </a:p>
        </p:txBody>
      </p:sp>
      <p:sp>
        <p:nvSpPr>
          <p:cNvPr id="105" name="Text 103"/>
          <p:cNvSpPr txBox="1"/>
          <p:nvPr/>
        </p:nvSpPr>
        <p:spPr>
          <a:xfrm>
            <a:off x="5486400" y="1874520"/>
            <a:ext cx="2651760" cy="365760"/>
          </a:xfrm>
          <a:prstGeom prst="rect">
            <a:avLst/>
          </a:prstGeom>
          <a:noFill/>
          <a:ln/>
        </p:spPr>
        <p:txBody>
          <a:bodyPr wrap="square" lIns="0" tIns="0" rIns="0" bIns="0" rtlCol="0" anchor="t"/>
          <a:lstStyle/>
          <a:p>
            <a:pPr marL="0" indent="0">
              <a:buNone/>
            </a:pPr>
            <a:r>
              <a:rPr lang="en-US" sz="1800" b="1" kern="0" spc="200" dirty="0">
                <a:solidFill>
                  <a:schemeClr val="accent4"/>
                </a:solidFill>
              </a:rPr>
              <a:t>Currently</a:t>
            </a:r>
            <a:endParaRPr lang="en-US" sz="1800" dirty="0"/>
          </a:p>
        </p:txBody>
      </p:sp>
      <p:sp>
        <p:nvSpPr>
          <p:cNvPr id="106" name="Text 104"/>
          <p:cNvSpPr txBox="1"/>
          <p:nvPr/>
        </p:nvSpPr>
        <p:spPr>
          <a:xfrm>
            <a:off x="5486400" y="2423160"/>
            <a:ext cx="2606040" cy="320040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chemeClr val="tx1"/>
                </a:solidFill>
              </a:rPr>
              <a:t>44,021 applicants (14%) have no credit-bureau record</a:t>
            </a:r>
            <a:endParaRPr lang="en-US" sz="2000" dirty="0"/>
          </a:p>
          <a:p>
            <a:pPr marL="342900" indent="-342900">
              <a:spcAft>
                <a:spcPts val="900"/>
              </a:spcAft>
              <a:buSzPct val="100000"/>
              <a:buChar char="•"/>
            </a:pPr>
            <a:r>
              <a:rPr lang="en-US" sz="1800" dirty="0">
                <a:solidFill>
                  <a:schemeClr val="tx1"/>
                </a:solidFill>
              </a:rPr>
              <a:t>Bureau-based scoring has little to go on</a:t>
            </a:r>
            <a:endParaRPr lang="en-US" sz="2000" dirty="0"/>
          </a:p>
          <a:p>
            <a:pPr marL="342900" indent="-342900">
              <a:spcAft>
                <a:spcPts val="900"/>
              </a:spcAft>
              <a:buSzPct val="100000"/>
              <a:buChar char="•"/>
            </a:pPr>
            <a:r>
              <a:rPr lang="en-US" sz="1800" dirty="0">
                <a:solidFill>
                  <a:schemeClr val="tx1"/>
                </a:solidFill>
              </a:rPr>
              <a:t>8 in 100 borrowers have payment difficulty</a:t>
            </a:r>
            <a:endParaRPr lang="en-US" sz="2000" dirty="0"/>
          </a:p>
        </p:txBody>
      </p:sp>
      <p:sp>
        <p:nvSpPr>
          <p:cNvPr id="107" name="what could be card"/>
          <p:cNvSpPr/>
          <p:nvPr/>
        </p:nvSpPr>
        <p:spPr>
          <a:xfrm>
            <a:off x="8549640" y="1600200"/>
            <a:ext cx="3063240" cy="4206240"/>
          </a:xfrm>
          <a:prstGeom prst="roundRect">
            <a:avLst>
              <a:gd name="adj" fmla="val 3582"/>
            </a:avLst>
          </a:prstGeom>
          <a:solidFill>
            <a:schemeClr val="tx2"/>
          </a:solidFill>
          <a:ln/>
        </p:spPr>
        <p:txBody>
          <a:bodyPr/>
          <a:lstStyle/>
          <a:p>
            <a:endParaRPr lang="en-US"/>
          </a:p>
        </p:txBody>
      </p:sp>
      <p:sp>
        <p:nvSpPr>
          <p:cNvPr id="108" name="Text 106"/>
          <p:cNvSpPr txBox="1"/>
          <p:nvPr/>
        </p:nvSpPr>
        <p:spPr>
          <a:xfrm>
            <a:off x="8778240" y="1874520"/>
            <a:ext cx="2651760" cy="365760"/>
          </a:xfrm>
          <a:prstGeom prst="rect">
            <a:avLst/>
          </a:prstGeom>
          <a:noFill/>
          <a:ln/>
        </p:spPr>
        <p:txBody>
          <a:bodyPr wrap="square" lIns="0" tIns="0" rIns="0" bIns="0" rtlCol="0" anchor="t"/>
          <a:lstStyle/>
          <a:p>
            <a:pPr marL="0" indent="0">
              <a:buNone/>
            </a:pPr>
            <a:r>
              <a:rPr lang="en-US" sz="1800" b="1" kern="0" spc="200" dirty="0">
                <a:solidFill>
                  <a:schemeClr val="accent4"/>
                </a:solidFill>
              </a:rPr>
              <a:t>Potential Future</a:t>
            </a:r>
            <a:endParaRPr lang="en-US" sz="1800" dirty="0"/>
          </a:p>
        </p:txBody>
      </p:sp>
      <p:sp>
        <p:nvSpPr>
          <p:cNvPr id="109" name="Text 107"/>
          <p:cNvSpPr txBox="1"/>
          <p:nvPr/>
        </p:nvSpPr>
        <p:spPr>
          <a:xfrm>
            <a:off x="8778240" y="2423160"/>
            <a:ext cx="2651760" cy="320040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chemeClr val="bg1"/>
                </a:solidFill>
              </a:rPr>
              <a:t>Judge risk from application data, external scores and our own repayment history</a:t>
            </a:r>
          </a:p>
          <a:p>
            <a:pPr marL="342900" indent="-342900">
              <a:spcAft>
                <a:spcPts val="900"/>
              </a:spcAft>
              <a:buSzPct val="100000"/>
              <a:buChar char="•"/>
            </a:pPr>
            <a:r>
              <a:rPr lang="en-US" sz="1800" dirty="0">
                <a:solidFill>
                  <a:schemeClr val="bg1"/>
                </a:solidFill>
              </a:rPr>
              <a:t>Keep payment difficulty within the brief’s 8% ceiling</a:t>
            </a:r>
          </a:p>
          <a:p>
            <a:pPr marL="342900" indent="-342900">
              <a:spcAft>
                <a:spcPts val="900"/>
              </a:spcAft>
              <a:buSzPct val="100000"/>
              <a:buChar char="•"/>
            </a:pPr>
            <a:r>
              <a:rPr lang="en-US" sz="1800" dirty="0">
                <a:solidFill>
                  <a:schemeClr val="bg1"/>
                </a:solidFill>
              </a:rPr>
              <a:t>Focus review on the riskiest few</a:t>
            </a:r>
          </a:p>
        </p:txBody>
      </p:sp>
      <p:sp>
        <p:nvSpPr>
          <p:cNvPr id="110"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3</a:t>
            </a:fld>
            <a:endParaRPr lang="en-US"/>
          </a:p>
        </p:txBody>
      </p:sp>
      <p:sp>
        <p:nvSpPr>
          <p:cNvPr id="201" name="legend dot 201"/>
          <p:cNvSpPr/>
          <p:nvPr/>
        </p:nvSpPr>
        <p:spPr>
          <a:xfrm>
            <a:off x="685800" y="4381500"/>
            <a:ext cx="152400" cy="152400"/>
          </a:xfrm>
          <a:prstGeom prst="ellipse">
            <a:avLst/>
          </a:prstGeom>
          <a:solidFill>
            <a:srgbClr val="1B2A41"/>
          </a:solidFill>
          <a:ln>
            <a:noFill/>
          </a:ln>
        </p:spPr>
        <p:txBody>
          <a:bodyPr/>
          <a:lstStyle/>
          <a:p>
            <a:endParaRPr lang="en-US"/>
          </a:p>
        </p:txBody>
      </p:sp>
      <p:sp>
        <p:nvSpPr>
          <p:cNvPr id="202" name="label 202"/>
          <p:cNvSpPr txBox="1"/>
          <p:nvPr/>
        </p:nvSpPr>
        <p:spPr>
          <a:xfrm>
            <a:off x="914400" y="4318000"/>
            <a:ext cx="3302000" cy="279400"/>
          </a:xfrm>
          <a:prstGeom prst="rect">
            <a:avLst/>
          </a:prstGeom>
          <a:noFill/>
        </p:spPr>
        <p:txBody>
          <a:bodyPr wrap="square" lIns="0" tIns="0" rIns="0" bIns="0" rtlCol="0" anchor="ctr"/>
          <a:lstStyle/>
          <a:p>
            <a:r>
              <a:rPr lang="en-US" sz="1800" dirty="0">
                <a:solidFill>
                  <a:srgbClr val="1F2933"/>
                </a:solidFill>
              </a:rPr>
              <a:t>No bureau record (14 in 100)</a:t>
            </a:r>
          </a:p>
        </p:txBody>
      </p:sp>
      <p:sp>
        <p:nvSpPr>
          <p:cNvPr id="203" name="legend dot 203"/>
          <p:cNvSpPr/>
          <p:nvPr/>
        </p:nvSpPr>
        <p:spPr>
          <a:xfrm>
            <a:off x="685800" y="4737100"/>
            <a:ext cx="152400" cy="152400"/>
          </a:xfrm>
          <a:prstGeom prst="ellipse">
            <a:avLst/>
          </a:prstGeom>
          <a:solidFill>
            <a:srgbClr val="C9D1D9"/>
          </a:solidFill>
          <a:ln>
            <a:noFill/>
          </a:ln>
        </p:spPr>
        <p:txBody>
          <a:bodyPr/>
          <a:lstStyle/>
          <a:p>
            <a:endParaRPr lang="en-US"/>
          </a:p>
        </p:txBody>
      </p:sp>
      <p:sp>
        <p:nvSpPr>
          <p:cNvPr id="204" name="label 204"/>
          <p:cNvSpPr txBox="1"/>
          <p:nvPr/>
        </p:nvSpPr>
        <p:spPr>
          <a:xfrm>
            <a:off x="914400" y="4673600"/>
            <a:ext cx="2540000" cy="279400"/>
          </a:xfrm>
          <a:prstGeom prst="rect">
            <a:avLst/>
          </a:prstGeom>
          <a:noFill/>
        </p:spPr>
        <p:txBody>
          <a:bodyPr wrap="square" lIns="0" tIns="0" rIns="0" bIns="0" rtlCol="0" anchor="ctr"/>
          <a:lstStyle/>
          <a:p>
            <a:r>
              <a:rPr lang="en-US" sz="1800" dirty="0">
                <a:solidFill>
                  <a:srgbClr val="1F2933"/>
                </a:solidFill>
              </a:rPr>
              <a:t>Bureau record</a:t>
            </a:r>
          </a:p>
        </p:txBody>
      </p:sp>
    </p:spTree>
    <p:extLst>
      <p:ext uri="{BB962C8B-B14F-4D97-AF65-F5344CB8AC3E}">
        <p14:creationId xmlns:p14="http://schemas.microsoft.com/office/powerpoint/2010/main" val="791067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normAutofit fontScale="90000"/>
          </a:bodyPr>
          <a:lstStyle/>
          <a:p>
            <a:pPr marL="0" indent="0" algn="l">
              <a:buNone/>
            </a:pPr>
            <a:r>
              <a:rPr lang="en-US" sz="3200" b="1" dirty="0">
                <a:solidFill>
                  <a:schemeClr val="tx2"/>
                </a:solidFill>
                <a:latin typeface="Cambria" pitchFamily="34" charset="0"/>
                <a:ea typeface="Cambria" pitchFamily="34" charset="-122"/>
                <a:cs typeface="Cambria" pitchFamily="34" charset="-120"/>
              </a:rPr>
              <a:t>Repayment history separates good borrowers from risky ones</a:t>
            </a:r>
            <a:endParaRPr lang="en-US" sz="3200" dirty="0"/>
          </a:p>
        </p:txBody>
      </p:sp>
      <p:graphicFrame>
        <p:nvGraphicFramePr>
          <p:cNvPr id="3" name="warning sign chart"/>
          <p:cNvGraphicFramePr/>
          <p:nvPr/>
        </p:nvGraphicFramePr>
        <p:xfrm>
          <a:off x="548640" y="1600200"/>
          <a:ext cx="749808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4" name="insight card"/>
          <p:cNvSpPr/>
          <p:nvPr/>
        </p:nvSpPr>
        <p:spPr>
          <a:xfrm>
            <a:off x="8412480" y="1554480"/>
            <a:ext cx="3200400" cy="4480560"/>
          </a:xfrm>
          <a:prstGeom prst="roundRect">
            <a:avLst>
              <a:gd name="adj" fmla="val 3429"/>
            </a:avLst>
          </a:prstGeom>
          <a:solidFill>
            <a:schemeClr val="bg2"/>
          </a:solidFill>
          <a:ln/>
        </p:spPr>
        <p:txBody>
          <a:bodyPr/>
          <a:lstStyle/>
          <a:p>
            <a:endParaRPr lang="en-US"/>
          </a:p>
        </p:txBody>
      </p:sp>
      <p:sp>
        <p:nvSpPr>
          <p:cNvPr id="5" name="Text 2"/>
          <p:cNvSpPr txBox="1"/>
          <p:nvPr/>
        </p:nvSpPr>
        <p:spPr>
          <a:xfrm>
            <a:off x="8686800" y="1783080"/>
            <a:ext cx="2743200" cy="1005840"/>
          </a:xfrm>
          <a:prstGeom prst="rect">
            <a:avLst/>
          </a:prstGeom>
          <a:noFill/>
          <a:ln/>
        </p:spPr>
        <p:txBody>
          <a:bodyPr wrap="square" lIns="0" tIns="0" rIns="0" bIns="0" rtlCol="0" anchor="t"/>
          <a:lstStyle/>
          <a:p>
            <a:pPr marL="0" indent="0">
              <a:buNone/>
            </a:pPr>
            <a:r>
              <a:rPr lang="en-US" sz="6000" b="1" dirty="0">
                <a:solidFill>
                  <a:schemeClr val="accent2"/>
                </a:solidFill>
                <a:latin typeface="Cambria" pitchFamily="34" charset="0"/>
                <a:ea typeface="Cambria" pitchFamily="34" charset="-122"/>
                <a:cs typeface="Cambria" pitchFamily="34" charset="-120"/>
              </a:rPr>
              <a:t>2×</a:t>
            </a:r>
            <a:endParaRPr lang="en-US" sz="6000" dirty="0"/>
          </a:p>
        </p:txBody>
      </p:sp>
      <p:sp>
        <p:nvSpPr>
          <p:cNvPr id="6" name="Text 3"/>
          <p:cNvSpPr txBox="1"/>
          <p:nvPr/>
        </p:nvSpPr>
        <p:spPr>
          <a:xfrm>
            <a:off x="8686800" y="2834640"/>
            <a:ext cx="2697480" cy="1828800"/>
          </a:xfrm>
          <a:prstGeom prst="rect">
            <a:avLst/>
          </a:prstGeom>
          <a:noFill/>
          <a:ln/>
        </p:spPr>
        <p:txBody>
          <a:bodyPr wrap="square" lIns="0" tIns="0" rIns="0" bIns="0" rtlCol="0" anchor="t"/>
          <a:lstStyle/>
          <a:p>
            <a:pPr marL="0" indent="0">
              <a:buNone/>
            </a:pPr>
            <a:r>
              <a:rPr lang="en-US" sz="2000" dirty="0">
                <a:solidFill>
                  <a:schemeClr val="tx1"/>
                </a:solidFill>
              </a:rPr>
              <a:t>Borrowers with a prior bureau delinquency ran into payment difficulty at twice the rate of other borrowers with bureau history</a:t>
            </a:r>
            <a:endParaRPr lang="en-US" sz="2000" dirty="0"/>
          </a:p>
        </p:txBody>
      </p:sp>
      <p:sp>
        <p:nvSpPr>
          <p:cNvPr id="7" name="Text 4"/>
          <p:cNvSpPr txBox="1"/>
          <p:nvPr/>
        </p:nvSpPr>
        <p:spPr>
          <a:xfrm>
            <a:off x="8686800" y="4983480"/>
            <a:ext cx="2697480" cy="822960"/>
          </a:xfrm>
          <a:prstGeom prst="rect">
            <a:avLst/>
          </a:prstGeom>
          <a:noFill/>
          <a:ln/>
        </p:spPr>
        <p:txBody>
          <a:bodyPr wrap="square" lIns="0" tIns="0" rIns="0" bIns="0" rtlCol="0" anchor="t"/>
          <a:lstStyle/>
          <a:p>
            <a:pPr marL="0" indent="0">
              <a:buNone/>
            </a:pPr>
            <a:r>
              <a:rPr lang="en-US" sz="1800" i="1" dirty="0">
                <a:solidFill>
                  <a:srgbClr val="3E4C59"/>
                </a:solidFill>
              </a:rPr>
              <a:t>Rates of payment difficulty; overall average 8.1%</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4</a:t>
            </a:fld>
            <a:endParaRPr lang="en-US"/>
          </a:p>
        </p:txBody>
      </p:sp>
      <p:sp>
        <p:nvSpPr>
          <p:cNvPr id="400" name="Chart label"/>
          <p:cNvSpPr txBox="1"/>
          <p:nvPr/>
        </p:nvSpPr>
        <p:spPr>
          <a:xfrm>
            <a:off x="546100" y="1231900"/>
            <a:ext cx="7112000" cy="304800"/>
          </a:xfrm>
          <a:prstGeom prst="rect">
            <a:avLst/>
          </a:prstGeom>
          <a:noFill/>
        </p:spPr>
        <p:txBody>
          <a:bodyPr wrap="square" lIns="0" tIns="0" rIns="0" bIns="0" rtlCol="0" anchor="t"/>
          <a:lstStyle/>
          <a:p>
            <a:r>
              <a:rPr lang="en-US" sz="1800" dirty="0">
                <a:solidFill>
                  <a:srgbClr val="5F6B78"/>
                </a:solidFill>
              </a:rPr>
              <a:t>Payment-difficulty rate, %</a:t>
            </a:r>
          </a:p>
        </p:txBody>
      </p:sp>
    </p:spTree>
    <p:extLst>
      <p:ext uri="{BB962C8B-B14F-4D97-AF65-F5344CB8AC3E}">
        <p14:creationId xmlns:p14="http://schemas.microsoft.com/office/powerpoint/2010/main" val="2497430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normAutofit/>
          </a:bodyPr>
          <a:lstStyle/>
          <a:p>
            <a:pPr marL="0" indent="0" algn="l">
              <a:buNone/>
            </a:pPr>
            <a:r>
              <a:rPr lang="en-US" sz="3200" b="1" dirty="0">
                <a:solidFill>
                  <a:schemeClr val="tx2"/>
                </a:solidFill>
                <a:latin typeface="Cambria" pitchFamily="34" charset="0"/>
                <a:ea typeface="Cambria" pitchFamily="34" charset="-122"/>
                <a:cs typeface="Cambria" pitchFamily="34" charset="-120"/>
              </a:rPr>
              <a:t>Traditional plus alternative data gives the sharpest score</a:t>
            </a:r>
            <a:endParaRPr lang="en-US" sz="3200" dirty="0"/>
          </a:p>
        </p:txBody>
      </p:sp>
      <p:graphicFrame>
        <p:nvGraphicFramePr>
          <p:cNvPr id="3" name="model comparison chart"/>
          <p:cNvGraphicFramePr/>
          <p:nvPr/>
        </p:nvGraphicFramePr>
        <p:xfrm>
          <a:off x="548640" y="1600200"/>
          <a:ext cx="768096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cale card"/>
          <p:cNvSpPr/>
          <p:nvPr/>
        </p:nvSpPr>
        <p:spPr>
          <a:xfrm>
            <a:off x="8595360" y="1554480"/>
            <a:ext cx="3017520" cy="4846320"/>
          </a:xfrm>
          <a:prstGeom prst="roundRect">
            <a:avLst>
              <a:gd name="adj" fmla="val 3636"/>
            </a:avLst>
          </a:prstGeom>
          <a:solidFill>
            <a:schemeClr val="bg2"/>
          </a:solidFill>
          <a:ln/>
        </p:spPr>
        <p:txBody>
          <a:bodyPr/>
          <a:lstStyle/>
          <a:p>
            <a:endParaRPr lang="en-US"/>
          </a:p>
        </p:txBody>
      </p:sp>
      <p:sp>
        <p:nvSpPr>
          <p:cNvPr id="5" name="Text 2"/>
          <p:cNvSpPr txBox="1"/>
          <p:nvPr/>
        </p:nvSpPr>
        <p:spPr>
          <a:xfrm>
            <a:off x="8823960" y="1783080"/>
            <a:ext cx="2606040" cy="4114800"/>
          </a:xfrm>
          <a:prstGeom prst="rect">
            <a:avLst/>
          </a:prstGeom>
          <a:noFill/>
          <a:ln/>
        </p:spPr>
        <p:txBody>
          <a:bodyPr wrap="square" lIns="0" tIns="0" rIns="0" bIns="0" rtlCol="0" anchor="t"/>
          <a:lstStyle/>
          <a:p>
            <a:pPr marL="0" indent="0">
              <a:spcAft>
                <a:spcPts val="400"/>
              </a:spcAft>
              <a:buNone/>
            </a:pPr>
            <a:r>
              <a:rPr lang="en-US" sz="1800" b="1" dirty="0">
                <a:solidFill>
                  <a:schemeClr val="tx2"/>
                </a:solidFill>
              </a:rPr>
              <a:t>How to read it</a:t>
            </a:r>
            <a:endParaRPr lang="en-US" sz="1900" dirty="0"/>
          </a:p>
          <a:p>
            <a:pPr marL="0" indent="0">
              <a:spcAft>
                <a:spcPts val="400"/>
              </a:spcAft>
              <a:buNone/>
            </a:pPr>
            <a:r>
              <a:rPr lang="en-US" sz="1800" dirty="0">
                <a:solidFill>
                  <a:schemeClr val="tx1"/>
                </a:solidFill>
              </a:rPr>
              <a:t>0.50 = no ability to separate good from risky applicants; 1.00 = perfect separation</a:t>
            </a:r>
            <a:endParaRPr lang="en-US" sz="1900" dirty="0"/>
          </a:p>
          <a:p>
            <a:pPr marL="0" indent="0">
              <a:spcAft>
                <a:spcPts val="400"/>
              </a:spcAft>
              <a:buNone/>
            </a:pPr>
            <a:r>
              <a:rPr lang="en-US" sz="800" dirty="0">
                <a:solidFill>
                  <a:schemeClr val="tx1"/>
                </a:solidFill>
              </a:rPr>
              <a:t> </a:t>
            </a:r>
            <a:endParaRPr lang="en-US" sz="800" dirty="0"/>
          </a:p>
          <a:p>
            <a:pPr marL="0" indent="0">
              <a:spcAft>
                <a:spcPts val="400"/>
              </a:spcAft>
              <a:buNone/>
            </a:pPr>
            <a:r>
              <a:rPr lang="en-US" sz="1800" dirty="0">
                <a:solidFill>
                  <a:schemeClr val="tx1"/>
                </a:solidFill>
              </a:rPr>
              <a:t>Every score was measured on applicants the model never saw during training</a:t>
            </a:r>
            <a:endParaRPr lang="en-US" sz="1900" dirty="0"/>
          </a:p>
          <a:p>
            <a:pPr marL="0" indent="0">
              <a:spcAft>
                <a:spcPts val="400"/>
              </a:spcAft>
              <a:buNone/>
            </a:pPr>
            <a:r>
              <a:rPr lang="en-US" sz="800" dirty="0">
                <a:solidFill>
                  <a:schemeClr val="tx1"/>
                </a:solidFill>
              </a:rPr>
              <a:t> </a:t>
            </a:r>
            <a:endParaRPr lang="en-US" sz="800" dirty="0"/>
          </a:p>
          <a:p>
            <a:pPr marL="0" indent="0">
              <a:spcAft>
                <a:spcPts val="400"/>
              </a:spcAft>
              <a:buNone/>
            </a:pPr>
            <a:endParaRPr lang="en-US" sz="800" dirty="0"/>
          </a:p>
          <a:p>
            <a:pPr marL="0" indent="0">
              <a:spcAft>
                <a:spcPts val="400"/>
              </a:spcAft>
              <a:buNone/>
            </a:pPr>
            <a:r>
              <a:rPr lang="en-US" sz="1800" b="1" dirty="0">
                <a:solidFill>
                  <a:schemeClr val="accent2"/>
                </a:solidFill>
              </a:rPr>
              <a:t>Project target was 0.79; we are at 0.766</a:t>
            </a:r>
            <a:endParaRPr lang="en-US" sz="19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5</a:t>
            </a:fld>
            <a:endParaRPr lang="en-US"/>
          </a:p>
        </p:txBody>
      </p:sp>
      <p:sp>
        <p:nvSpPr>
          <p:cNvPr id="400" name="Chart label"/>
          <p:cNvSpPr txBox="1"/>
          <p:nvPr/>
        </p:nvSpPr>
        <p:spPr>
          <a:xfrm>
            <a:off x="546100" y="1282700"/>
            <a:ext cx="7874000" cy="304800"/>
          </a:xfrm>
          <a:prstGeom prst="rect">
            <a:avLst/>
          </a:prstGeom>
          <a:noFill/>
        </p:spPr>
        <p:txBody>
          <a:bodyPr wrap="square" lIns="0" tIns="0" rIns="0" bIns="0" rtlCol="0" anchor="t"/>
          <a:lstStyle/>
          <a:p>
            <a:r>
              <a:rPr lang="en-US" sz="1800" dirty="0">
                <a:solidFill>
                  <a:srgbClr val="5F6B78"/>
                </a:solidFill>
              </a:rPr>
              <a:t>Ranking accuracy (ROC-AUC): 0.50 = no separation, 1.00 = perfect</a:t>
            </a:r>
          </a:p>
        </p:txBody>
      </p:sp>
    </p:spTree>
    <p:extLst>
      <p:ext uri="{BB962C8B-B14F-4D97-AF65-F5344CB8AC3E}">
        <p14:creationId xmlns:p14="http://schemas.microsoft.com/office/powerpoint/2010/main" val="532322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normAutofit fontScale="90000"/>
          </a:bodyPr>
          <a:lstStyle/>
          <a:p>
            <a:pPr marL="0" indent="0" algn="l">
              <a:buNone/>
            </a:pPr>
            <a:r>
              <a:rPr lang="en-US" sz="3200" b="1" dirty="0">
                <a:solidFill>
                  <a:schemeClr val="tx2"/>
                </a:solidFill>
                <a:latin typeface="Cambria" pitchFamily="34" charset="0"/>
                <a:ea typeface="Cambria" pitchFamily="34" charset="-122"/>
                <a:cs typeface="Cambria" pitchFamily="34" charset="-120"/>
              </a:rPr>
              <a:t>Credit scores and repayment history drive two-thirds of the score</a:t>
            </a:r>
            <a:endParaRPr lang="en-US" sz="3200" dirty="0"/>
          </a:p>
        </p:txBody>
      </p:sp>
      <p:graphicFrame>
        <p:nvGraphicFramePr>
          <p:cNvPr id="3" name="driver theme chart"/>
          <p:cNvGraphicFramePr/>
          <p:nvPr/>
        </p:nvGraphicFramePr>
        <p:xfrm>
          <a:off x="548640" y="1600200"/>
          <a:ext cx="731520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4" name="driver card"/>
          <p:cNvSpPr/>
          <p:nvPr/>
        </p:nvSpPr>
        <p:spPr>
          <a:xfrm>
            <a:off x="8229600" y="1554480"/>
            <a:ext cx="3383280" cy="4762500"/>
          </a:xfrm>
          <a:prstGeom prst="roundRect">
            <a:avLst>
              <a:gd name="adj" fmla="val 3243"/>
            </a:avLst>
          </a:prstGeom>
          <a:solidFill>
            <a:schemeClr val="bg2"/>
          </a:solidFill>
          <a:ln/>
        </p:spPr>
        <p:txBody>
          <a:bodyPr/>
          <a:lstStyle/>
          <a:p>
            <a:endParaRPr lang="en-US"/>
          </a:p>
        </p:txBody>
      </p:sp>
      <p:sp>
        <p:nvSpPr>
          <p:cNvPr id="5" name="Text 2"/>
          <p:cNvSpPr txBox="1"/>
          <p:nvPr/>
        </p:nvSpPr>
        <p:spPr>
          <a:xfrm>
            <a:off x="8458200" y="1783080"/>
            <a:ext cx="3017520" cy="2413000"/>
          </a:xfrm>
          <a:prstGeom prst="rect">
            <a:avLst/>
          </a:prstGeom>
          <a:noFill/>
          <a:ln/>
        </p:spPr>
        <p:txBody>
          <a:bodyPr wrap="square" lIns="0" tIns="0" rIns="0" bIns="0" rtlCol="0" anchor="t"/>
          <a:lstStyle/>
          <a:p>
            <a:pPr marL="0" indent="0">
              <a:spcAft>
                <a:spcPts val="600"/>
              </a:spcAft>
              <a:buNone/>
            </a:pPr>
            <a:r>
              <a:rPr lang="en-US" sz="1900" b="1" dirty="0">
                <a:solidFill>
                  <a:schemeClr val="tx2"/>
                </a:solidFill>
              </a:rPr>
              <a:t>Top individual drivers</a:t>
            </a:r>
            <a:endParaRPr lang="en-US" sz="1900" dirty="0"/>
          </a:p>
          <a:p>
            <a:pPr marL="342900" indent="-342900">
              <a:spcAft>
                <a:spcPts val="600"/>
              </a:spcAft>
              <a:buSzPct val="100000"/>
              <a:buFont typeface="+mj-lt"/>
              <a:buAutoNum type="arabicPeriod"/>
            </a:pPr>
            <a:r>
              <a:rPr lang="en-US" sz="1900" dirty="0">
                <a:solidFill>
                  <a:schemeClr val="tx1"/>
                </a:solidFill>
              </a:rPr>
              <a:t>External credit scores</a:t>
            </a:r>
            <a:endParaRPr lang="en-US" sz="1900" dirty="0"/>
          </a:p>
          <a:p>
            <a:pPr marL="342900" indent="-342900">
              <a:spcAft>
                <a:spcPts val="600"/>
              </a:spcAft>
              <a:buSzPct val="100000"/>
              <a:buFont typeface="+mj-lt"/>
              <a:buAutoNum type="arabicPeriod"/>
            </a:pPr>
            <a:r>
              <a:rPr lang="en-US" sz="1900" dirty="0">
                <a:solidFill>
                  <a:schemeClr val="tx1"/>
                </a:solidFill>
              </a:rPr>
              <a:t>Years in current job</a:t>
            </a:r>
            <a:endParaRPr lang="en-US" sz="1900" dirty="0"/>
          </a:p>
          <a:p>
            <a:pPr marL="342900" indent="-342900">
              <a:spcAft>
                <a:spcPts val="600"/>
              </a:spcAft>
              <a:buSzPct val="100000"/>
              <a:buFont typeface="+mj-lt"/>
              <a:buAutoNum type="arabicPeriod"/>
            </a:pPr>
            <a:r>
              <a:rPr lang="en-US" sz="1900" dirty="0">
                <a:solidFill>
                  <a:schemeClr val="tx1"/>
                </a:solidFill>
              </a:rPr>
              <a:t>Loan vs. goods price</a:t>
            </a:r>
            <a:endParaRPr lang="en-US" sz="1900" dirty="0"/>
          </a:p>
          <a:p>
            <a:pPr marL="342900" indent="-342900">
              <a:spcAft>
                <a:spcPts val="600"/>
              </a:spcAft>
              <a:buSzPct val="100000"/>
              <a:buFont typeface="+mj-lt"/>
              <a:buAutoNum type="arabicPeriod"/>
            </a:pPr>
            <a:r>
              <a:rPr lang="en-US" sz="1900" dirty="0">
                <a:solidFill>
                  <a:schemeClr val="tx1"/>
                </a:solidFill>
              </a:rPr>
              <a:t>Worst past payment delay</a:t>
            </a:r>
            <a:endParaRPr lang="en-US" sz="1900" dirty="0"/>
          </a:p>
          <a:p>
            <a:pPr marL="342900" indent="-342900">
              <a:spcAft>
                <a:spcPts val="600"/>
              </a:spcAft>
              <a:buSzPct val="100000"/>
              <a:buFont typeface="+mj-lt"/>
              <a:buAutoNum type="arabicPeriod"/>
            </a:pPr>
            <a:r>
              <a:rPr lang="en-US" sz="1900" dirty="0">
                <a:solidFill>
                  <a:schemeClr val="tx1"/>
                </a:solidFill>
              </a:rPr>
              <a:t>Prior refused applications</a:t>
            </a:r>
            <a:endParaRPr lang="en-US" sz="1900" dirty="0"/>
          </a:p>
        </p:txBody>
      </p:sp>
      <p:sp>
        <p:nvSpPr>
          <p:cNvPr id="6" name="Text 3"/>
          <p:cNvSpPr txBox="1"/>
          <p:nvPr/>
        </p:nvSpPr>
        <p:spPr>
          <a:xfrm>
            <a:off x="8458200" y="4419600"/>
            <a:ext cx="3017520" cy="1005840"/>
          </a:xfrm>
          <a:prstGeom prst="rect">
            <a:avLst/>
          </a:prstGeom>
          <a:noFill/>
          <a:ln/>
        </p:spPr>
        <p:txBody>
          <a:bodyPr wrap="square" lIns="0" tIns="0" rIns="0" bIns="0" rtlCol="0" anchor="t"/>
          <a:lstStyle/>
          <a:p>
            <a:pPr marL="0" indent="0">
              <a:spcAft>
                <a:spcPts val="600"/>
              </a:spcAft>
              <a:buNone/>
            </a:pPr>
            <a:r>
              <a:rPr lang="en-US" sz="1800" i="1" dirty="0">
                <a:solidFill>
                  <a:schemeClr val="accent1"/>
                </a:solidFill>
              </a:rPr>
              <a:t>Gender, age, family and occupation aren’t direct inputs; we keep them aside to audit fairness.</a:t>
            </a:r>
          </a:p>
          <a:p>
            <a:pPr marL="0" indent="0">
              <a:buNone/>
            </a:pPr>
            <a:r>
              <a:rPr lang="en-US" sz="1800" i="1" dirty="0">
                <a:solidFill>
                  <a:schemeClr val="accent1"/>
                </a:solidFill>
              </a:rPr>
              <a:t>Accuracy is weaker for applicants under 25 (0.715).</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6</a:t>
            </a:fld>
            <a:endParaRPr lang="en-US"/>
          </a:p>
        </p:txBody>
      </p:sp>
      <p:sp>
        <p:nvSpPr>
          <p:cNvPr id="400" name="Chart label"/>
          <p:cNvSpPr txBox="1"/>
          <p:nvPr/>
        </p:nvSpPr>
        <p:spPr>
          <a:xfrm>
            <a:off x="546100" y="1231900"/>
            <a:ext cx="7112000" cy="304800"/>
          </a:xfrm>
          <a:prstGeom prst="rect">
            <a:avLst/>
          </a:prstGeom>
          <a:noFill/>
        </p:spPr>
        <p:txBody>
          <a:bodyPr wrap="square" lIns="0" tIns="0" rIns="0" bIns="0" rtlCol="0" anchor="t"/>
          <a:lstStyle/>
          <a:p>
            <a:r>
              <a:rPr lang="en-US" sz="1800" dirty="0">
                <a:solidFill>
                  <a:srgbClr val="5F6B78"/>
                </a:solidFill>
              </a:rPr>
              <a:t>Share of predictive weight, %</a:t>
            </a:r>
          </a:p>
        </p:txBody>
      </p:sp>
    </p:spTree>
    <p:extLst>
      <p:ext uri="{BB962C8B-B14F-4D97-AF65-F5344CB8AC3E}">
        <p14:creationId xmlns:p14="http://schemas.microsoft.com/office/powerpoint/2010/main" val="1404560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The score works almost as well without a bureau record</a:t>
            </a:r>
            <a:endParaRPr lang="en-US" sz="3200" dirty="0"/>
          </a:p>
        </p:txBody>
      </p:sp>
      <p:sp>
        <p:nvSpPr>
          <p:cNvPr id="4" name="Maria circle"/>
          <p:cNvSpPr/>
          <p:nvPr/>
        </p:nvSpPr>
        <p:spPr>
          <a:xfrm>
            <a:off x="546100" y="1397000"/>
            <a:ext cx="558800" cy="558800"/>
          </a:xfrm>
          <a:prstGeom prst="ellipse">
            <a:avLst/>
          </a:prstGeom>
          <a:solidFill>
            <a:srgbClr val="2E7D32"/>
          </a:solidFill>
          <a:ln/>
        </p:spPr>
        <p:txBody>
          <a:bodyPr/>
          <a:lstStyle/>
          <a:p>
            <a:endParaRPr lang="en-US"/>
          </a:p>
        </p:txBody>
      </p:sp>
      <p:pic>
        <p:nvPicPr>
          <p:cNvPr id="5" name="Maria icon" descr="preencoded.png"/>
          <p:cNvPicPr>
            <a:picLocks noChangeAspect="1"/>
          </p:cNvPicPr>
          <p:nvPr/>
        </p:nvPicPr>
        <p:blipFill>
          <a:blip r:embed="rId3"/>
          <a:stretch>
            <a:fillRect/>
          </a:stretch>
        </p:blipFill>
        <p:spPr>
          <a:xfrm>
            <a:off x="685800" y="1536700"/>
            <a:ext cx="279400" cy="279400"/>
          </a:xfrm>
          <a:prstGeom prst="rect">
            <a:avLst/>
          </a:prstGeom>
        </p:spPr>
      </p:pic>
      <p:sp>
        <p:nvSpPr>
          <p:cNvPr id="301" name="text 302"/>
          <p:cNvSpPr txBox="1"/>
          <p:nvPr/>
        </p:nvSpPr>
        <p:spPr>
          <a:xfrm>
            <a:off x="1231900" y="1371600"/>
            <a:ext cx="3810000" cy="330200"/>
          </a:xfrm>
          <a:prstGeom prst="rect">
            <a:avLst/>
          </a:prstGeom>
          <a:noFill/>
        </p:spPr>
        <p:txBody>
          <a:bodyPr wrap="square" lIns="0" tIns="0" rIns="0" bIns="0" rtlCol="0" anchor="b">
            <a:noAutofit/>
          </a:bodyPr>
          <a:lstStyle/>
          <a:p>
            <a:pPr algn="l"/>
            <a:r>
              <a:rPr lang="en-US" sz="2000" b="1" dirty="0">
                <a:solidFill>
                  <a:srgbClr val="0E2841"/>
                </a:solidFill>
                <a:latin typeface="Cambria" pitchFamily="34" charset="0"/>
                <a:ea typeface="Cambria" pitchFamily="34" charset="-122"/>
                <a:cs typeface="Cambria" pitchFamily="34" charset="-120"/>
              </a:rPr>
              <a:t>Maria</a:t>
            </a:r>
          </a:p>
        </p:txBody>
      </p:sp>
      <p:sp>
        <p:nvSpPr>
          <p:cNvPr id="302" name="text 303"/>
          <p:cNvSpPr txBox="1"/>
          <p:nvPr/>
        </p:nvSpPr>
        <p:spPr>
          <a:xfrm>
            <a:off x="1231900" y="1701800"/>
            <a:ext cx="5080000" cy="304800"/>
          </a:xfrm>
          <a:prstGeom prst="rect">
            <a:avLst/>
          </a:prstGeom>
          <a:noFill/>
        </p:spPr>
        <p:txBody>
          <a:bodyPr wrap="square" lIns="0" tIns="0" rIns="0" bIns="0" rtlCol="0" anchor="t">
            <a:noAutofit/>
          </a:bodyPr>
          <a:lstStyle/>
          <a:p>
            <a:pPr algn="l"/>
            <a:r>
              <a:rPr lang="en-US" sz="1800" dirty="0">
                <a:solidFill>
                  <a:srgbClr val="3E4C59"/>
                </a:solidFill>
              </a:rPr>
              <a:t>No bureau record · real applicant</a:t>
            </a:r>
          </a:p>
        </p:txBody>
      </p:sp>
      <p:sp>
        <p:nvSpPr>
          <p:cNvPr id="360" name="shape 361"/>
          <p:cNvSpPr/>
          <p:nvPr/>
        </p:nvSpPr>
        <p:spPr>
          <a:xfrm>
            <a:off x="546100" y="4851400"/>
            <a:ext cx="6096000" cy="584200"/>
          </a:xfrm>
          <a:prstGeom prst="roundRect">
            <a:avLst/>
          </a:prstGeom>
          <a:solidFill>
            <a:srgbClr val="2E7D32"/>
          </a:solidFill>
          <a:ln>
            <a:noFill/>
          </a:ln>
        </p:spPr>
        <p:txBody>
          <a:bodyPr wrap="none" lIns="0" tIns="0" rIns="0" bIns="0" anchor="ctr"/>
          <a:lstStyle/>
          <a:p>
            <a:pPr algn="ctr"/>
            <a:r>
              <a:rPr lang="en-US" sz="1800" b="1" dirty="0">
                <a:solidFill>
                  <a:srgbClr val="FFFFFF"/>
                </a:solidFill>
              </a:rPr>
              <a:t>1.7% predicted risk  →  Fast-track</a:t>
            </a:r>
          </a:p>
        </p:txBody>
      </p:sp>
      <p:sp>
        <p:nvSpPr>
          <p:cNvPr id="41"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7</a:t>
            </a:fld>
            <a:endParaRPr lang="en-US"/>
          </a:p>
        </p:txBody>
      </p:sp>
      <p:cxnSp>
        <p:nvCxnSpPr>
          <p:cNvPr id="600" name="Divider"/>
          <p:cNvCxnSpPr/>
          <p:nvPr/>
        </p:nvCxnSpPr>
        <p:spPr>
          <a:xfrm>
            <a:off x="546100" y="2159000"/>
            <a:ext cx="6096000" cy="0"/>
          </a:xfrm>
          <a:prstGeom prst="line">
            <a:avLst/>
          </a:prstGeom>
          <a:ln w="9525">
            <a:solidFill>
              <a:srgbClr val="D9DEE3"/>
            </a:solidFill>
          </a:ln>
        </p:spPr>
      </p:cxnSp>
      <p:sp>
        <p:nvSpPr>
          <p:cNvPr id="601" name="Text 601"/>
          <p:cNvSpPr txBox="1"/>
          <p:nvPr/>
        </p:nvSpPr>
        <p:spPr>
          <a:xfrm>
            <a:off x="546100" y="2159000"/>
            <a:ext cx="3175000" cy="508000"/>
          </a:xfrm>
          <a:prstGeom prst="rect">
            <a:avLst/>
          </a:prstGeom>
          <a:noFill/>
        </p:spPr>
        <p:txBody>
          <a:bodyPr wrap="square" lIns="0" tIns="0" rIns="0" bIns="0" rtlCol="0" anchor="ctr"/>
          <a:lstStyle/>
          <a:p>
            <a:r>
              <a:rPr lang="en-US" sz="1800" b="1" dirty="0">
                <a:solidFill>
                  <a:srgbClr val="1F2933"/>
                </a:solidFill>
              </a:rPr>
              <a:t>External credit scores</a:t>
            </a:r>
          </a:p>
        </p:txBody>
      </p:sp>
      <p:sp>
        <p:nvSpPr>
          <p:cNvPr id="602" name="Text 602"/>
          <p:cNvSpPr txBox="1"/>
          <p:nvPr/>
        </p:nvSpPr>
        <p:spPr>
          <a:xfrm>
            <a:off x="3810000" y="2159000"/>
            <a:ext cx="2832100" cy="508000"/>
          </a:xfrm>
          <a:prstGeom prst="rect">
            <a:avLst/>
          </a:prstGeom>
          <a:noFill/>
        </p:spPr>
        <p:txBody>
          <a:bodyPr wrap="square" lIns="0" tIns="0" rIns="0" bIns="0" rtlCol="0" anchor="ctr"/>
          <a:lstStyle/>
          <a:p>
            <a:r>
              <a:rPr lang="en-US" sz="1800" dirty="0">
                <a:solidFill>
                  <a:srgbClr val="1F2933"/>
                </a:solidFill>
              </a:rPr>
              <a:t>2 of 3 available, both strong</a:t>
            </a:r>
          </a:p>
        </p:txBody>
      </p:sp>
      <p:cxnSp>
        <p:nvCxnSpPr>
          <p:cNvPr id="603" name="Divider"/>
          <p:cNvCxnSpPr/>
          <p:nvPr/>
        </p:nvCxnSpPr>
        <p:spPr>
          <a:xfrm>
            <a:off x="546100" y="2667000"/>
            <a:ext cx="6096000" cy="0"/>
          </a:xfrm>
          <a:prstGeom prst="line">
            <a:avLst/>
          </a:prstGeom>
          <a:ln w="9525">
            <a:solidFill>
              <a:srgbClr val="D9DEE3"/>
            </a:solidFill>
          </a:ln>
        </p:spPr>
      </p:cxnSp>
      <p:sp>
        <p:nvSpPr>
          <p:cNvPr id="604" name="Text 604"/>
          <p:cNvSpPr txBox="1"/>
          <p:nvPr/>
        </p:nvSpPr>
        <p:spPr>
          <a:xfrm>
            <a:off x="546100" y="2667000"/>
            <a:ext cx="3175000" cy="508000"/>
          </a:xfrm>
          <a:prstGeom prst="rect">
            <a:avLst/>
          </a:prstGeom>
          <a:noFill/>
        </p:spPr>
        <p:txBody>
          <a:bodyPr wrap="square" lIns="0" tIns="0" rIns="0" bIns="0" rtlCol="0" anchor="ctr"/>
          <a:lstStyle/>
          <a:p>
            <a:r>
              <a:rPr lang="en-US" sz="1800" b="1" dirty="0">
                <a:solidFill>
                  <a:srgbClr val="1F2933"/>
                </a:solidFill>
              </a:rPr>
              <a:t>Years in current job</a:t>
            </a:r>
          </a:p>
        </p:txBody>
      </p:sp>
      <p:sp>
        <p:nvSpPr>
          <p:cNvPr id="605" name="Text 605"/>
          <p:cNvSpPr txBox="1"/>
          <p:nvPr/>
        </p:nvSpPr>
        <p:spPr>
          <a:xfrm>
            <a:off x="3810000" y="2667000"/>
            <a:ext cx="2832100" cy="508000"/>
          </a:xfrm>
          <a:prstGeom prst="rect">
            <a:avLst/>
          </a:prstGeom>
          <a:noFill/>
        </p:spPr>
        <p:txBody>
          <a:bodyPr wrap="square" lIns="0" tIns="0" rIns="0" bIns="0" rtlCol="0" anchor="ctr"/>
          <a:lstStyle/>
          <a:p>
            <a:r>
              <a:rPr lang="en-US" sz="1800" dirty="0">
                <a:solidFill>
                  <a:srgbClr val="1F2933"/>
                </a:solidFill>
              </a:rPr>
              <a:t>10.5</a:t>
            </a:r>
          </a:p>
        </p:txBody>
      </p:sp>
      <p:cxnSp>
        <p:nvCxnSpPr>
          <p:cNvPr id="606" name="Divider"/>
          <p:cNvCxnSpPr/>
          <p:nvPr/>
        </p:nvCxnSpPr>
        <p:spPr>
          <a:xfrm>
            <a:off x="546100" y="3175000"/>
            <a:ext cx="6096000" cy="0"/>
          </a:xfrm>
          <a:prstGeom prst="line">
            <a:avLst/>
          </a:prstGeom>
          <a:ln w="9525">
            <a:solidFill>
              <a:srgbClr val="D9DEE3"/>
            </a:solidFill>
          </a:ln>
        </p:spPr>
      </p:cxnSp>
      <p:sp>
        <p:nvSpPr>
          <p:cNvPr id="607" name="Text 607"/>
          <p:cNvSpPr txBox="1"/>
          <p:nvPr/>
        </p:nvSpPr>
        <p:spPr>
          <a:xfrm>
            <a:off x="546100" y="3175000"/>
            <a:ext cx="3175000" cy="508000"/>
          </a:xfrm>
          <a:prstGeom prst="rect">
            <a:avLst/>
          </a:prstGeom>
          <a:noFill/>
        </p:spPr>
        <p:txBody>
          <a:bodyPr wrap="square" lIns="0" tIns="0" rIns="0" bIns="0" rtlCol="0" anchor="ctr"/>
          <a:lstStyle/>
          <a:p>
            <a:r>
              <a:rPr lang="en-US" sz="1800" b="1" dirty="0">
                <a:solidFill>
                  <a:srgbClr val="1F2933"/>
                </a:solidFill>
              </a:rPr>
              <a:t>Loan vs. goods price</a:t>
            </a:r>
          </a:p>
        </p:txBody>
      </p:sp>
      <p:sp>
        <p:nvSpPr>
          <p:cNvPr id="608" name="Text 608"/>
          <p:cNvSpPr txBox="1"/>
          <p:nvPr/>
        </p:nvSpPr>
        <p:spPr>
          <a:xfrm>
            <a:off x="3810000" y="3175000"/>
            <a:ext cx="2832100" cy="508000"/>
          </a:xfrm>
          <a:prstGeom prst="rect">
            <a:avLst/>
          </a:prstGeom>
          <a:noFill/>
        </p:spPr>
        <p:txBody>
          <a:bodyPr wrap="square" lIns="0" tIns="0" rIns="0" bIns="0" rtlCol="0" anchor="ctr"/>
          <a:lstStyle/>
          <a:p>
            <a:r>
              <a:rPr lang="en-US" sz="1800" dirty="0">
                <a:solidFill>
                  <a:srgbClr val="1F2933"/>
                </a:solidFill>
              </a:rPr>
              <a:t>100%</a:t>
            </a:r>
          </a:p>
        </p:txBody>
      </p:sp>
      <p:cxnSp>
        <p:nvCxnSpPr>
          <p:cNvPr id="609" name="Divider"/>
          <p:cNvCxnSpPr/>
          <p:nvPr/>
        </p:nvCxnSpPr>
        <p:spPr>
          <a:xfrm>
            <a:off x="546100" y="3683000"/>
            <a:ext cx="6096000" cy="0"/>
          </a:xfrm>
          <a:prstGeom prst="line">
            <a:avLst/>
          </a:prstGeom>
          <a:ln w="9525">
            <a:solidFill>
              <a:srgbClr val="D9DEE3"/>
            </a:solidFill>
          </a:ln>
        </p:spPr>
      </p:cxnSp>
      <p:sp>
        <p:nvSpPr>
          <p:cNvPr id="610" name="Text 610"/>
          <p:cNvSpPr txBox="1"/>
          <p:nvPr/>
        </p:nvSpPr>
        <p:spPr>
          <a:xfrm>
            <a:off x="546100" y="3683000"/>
            <a:ext cx="3175000" cy="508000"/>
          </a:xfrm>
          <a:prstGeom prst="rect">
            <a:avLst/>
          </a:prstGeom>
          <a:noFill/>
        </p:spPr>
        <p:txBody>
          <a:bodyPr wrap="square" lIns="0" tIns="0" rIns="0" bIns="0" rtlCol="0" anchor="ctr"/>
          <a:lstStyle/>
          <a:p>
            <a:r>
              <a:rPr lang="en-US" sz="1800" b="1" dirty="0">
                <a:solidFill>
                  <a:srgbClr val="1F2933"/>
                </a:solidFill>
              </a:rPr>
              <a:t>Bureau or Home Credit history</a:t>
            </a:r>
          </a:p>
        </p:txBody>
      </p:sp>
      <p:sp>
        <p:nvSpPr>
          <p:cNvPr id="611" name="Text 611"/>
          <p:cNvSpPr txBox="1"/>
          <p:nvPr/>
        </p:nvSpPr>
        <p:spPr>
          <a:xfrm>
            <a:off x="3810000" y="3683000"/>
            <a:ext cx="2832100" cy="508000"/>
          </a:xfrm>
          <a:prstGeom prst="rect">
            <a:avLst/>
          </a:prstGeom>
          <a:noFill/>
        </p:spPr>
        <p:txBody>
          <a:bodyPr wrap="square" lIns="0" tIns="0" rIns="0" bIns="0" rtlCol="0" anchor="ctr"/>
          <a:lstStyle/>
          <a:p>
            <a:r>
              <a:rPr lang="en-US" sz="1800" dirty="0">
                <a:solidFill>
                  <a:srgbClr val="1F2933"/>
                </a:solidFill>
              </a:rPr>
              <a:t>None</a:t>
            </a:r>
          </a:p>
        </p:txBody>
      </p:sp>
      <p:cxnSp>
        <p:nvCxnSpPr>
          <p:cNvPr id="612" name="Divider"/>
          <p:cNvCxnSpPr/>
          <p:nvPr/>
        </p:nvCxnSpPr>
        <p:spPr>
          <a:xfrm>
            <a:off x="546100" y="4191000"/>
            <a:ext cx="6096000" cy="0"/>
          </a:xfrm>
          <a:prstGeom prst="line">
            <a:avLst/>
          </a:prstGeom>
          <a:ln w="9525">
            <a:solidFill>
              <a:srgbClr val="D9DEE3"/>
            </a:solidFill>
          </a:ln>
        </p:spPr>
      </p:cxnSp>
      <p:sp>
        <p:nvSpPr>
          <p:cNvPr id="613" name="Text 613"/>
          <p:cNvSpPr txBox="1"/>
          <p:nvPr/>
        </p:nvSpPr>
        <p:spPr>
          <a:xfrm>
            <a:off x="546100" y="4191000"/>
            <a:ext cx="3175000" cy="508000"/>
          </a:xfrm>
          <a:prstGeom prst="rect">
            <a:avLst/>
          </a:prstGeom>
          <a:noFill/>
        </p:spPr>
        <p:txBody>
          <a:bodyPr wrap="square" lIns="0" tIns="0" rIns="0" bIns="0" rtlCol="0" anchor="ctr"/>
          <a:lstStyle/>
          <a:p>
            <a:r>
              <a:rPr lang="en-US" sz="1800" b="1" dirty="0">
                <a:solidFill>
                  <a:srgbClr val="1F2933"/>
                </a:solidFill>
              </a:rPr>
              <a:t>Phone number</a:t>
            </a:r>
          </a:p>
        </p:txBody>
      </p:sp>
      <p:sp>
        <p:nvSpPr>
          <p:cNvPr id="614" name="Text 614"/>
          <p:cNvSpPr txBox="1"/>
          <p:nvPr/>
        </p:nvSpPr>
        <p:spPr>
          <a:xfrm>
            <a:off x="3810000" y="4191000"/>
            <a:ext cx="2832100" cy="508000"/>
          </a:xfrm>
          <a:prstGeom prst="rect">
            <a:avLst/>
          </a:prstGeom>
          <a:noFill/>
        </p:spPr>
        <p:txBody>
          <a:bodyPr wrap="square" lIns="0" tIns="0" rIns="0" bIns="0" rtlCol="0" anchor="ctr"/>
          <a:lstStyle/>
          <a:p>
            <a:r>
              <a:rPr lang="en-US" sz="1800" dirty="0">
                <a:solidFill>
                  <a:srgbClr val="1F2933"/>
                </a:solidFill>
              </a:rPr>
              <a:t>Same for 10.7 years</a:t>
            </a:r>
          </a:p>
        </p:txBody>
      </p:sp>
      <p:cxnSp>
        <p:nvCxnSpPr>
          <p:cNvPr id="615" name="Divider"/>
          <p:cNvCxnSpPr/>
          <p:nvPr/>
        </p:nvCxnSpPr>
        <p:spPr>
          <a:xfrm>
            <a:off x="546100" y="4699000"/>
            <a:ext cx="6096000" cy="0"/>
          </a:xfrm>
          <a:prstGeom prst="line">
            <a:avLst/>
          </a:prstGeom>
          <a:ln w="9525">
            <a:solidFill>
              <a:srgbClr val="D9DEE3"/>
            </a:solidFill>
          </a:ln>
        </p:spPr>
      </p:cxnSp>
      <p:sp>
        <p:nvSpPr>
          <p:cNvPr id="616" name="Text 616"/>
          <p:cNvSpPr/>
          <p:nvPr/>
        </p:nvSpPr>
        <p:spPr>
          <a:xfrm>
            <a:off x="7023100" y="1371600"/>
            <a:ext cx="4584700" cy="4064000"/>
          </a:xfrm>
          <a:prstGeom prst="roundRect">
            <a:avLst>
              <a:gd name="adj" fmla="val 4000"/>
            </a:avLst>
          </a:prstGeom>
          <a:solidFill>
            <a:srgbClr val="EEF0F2"/>
          </a:solidFill>
          <a:ln>
            <a:noFill/>
          </a:ln>
        </p:spPr>
        <p:txBody>
          <a:bodyPr wrap="square" lIns="0" tIns="0" rIns="0" bIns="0" rtlCol="0" anchor="t"/>
          <a:lstStyle/>
          <a:p>
            <a:endParaRPr lang="en-US"/>
          </a:p>
        </p:txBody>
      </p:sp>
      <p:sp>
        <p:nvSpPr>
          <p:cNvPr id="617" name="Text 617"/>
          <p:cNvSpPr txBox="1"/>
          <p:nvPr/>
        </p:nvSpPr>
        <p:spPr>
          <a:xfrm>
            <a:off x="7302500" y="1574800"/>
            <a:ext cx="4064000" cy="609600"/>
          </a:xfrm>
          <a:prstGeom prst="rect">
            <a:avLst/>
          </a:prstGeom>
          <a:noFill/>
        </p:spPr>
        <p:txBody>
          <a:bodyPr wrap="square" lIns="0" tIns="0" rIns="0" bIns="0" rtlCol="0" anchor="t"/>
          <a:lstStyle/>
          <a:p>
            <a:r>
              <a:rPr lang="en-US" sz="1800" b="1" dirty="0">
                <a:solidFill>
                  <a:srgbClr val="1F2933"/>
                </a:solidFill>
              </a:rPr>
              <a:t>Ranking accuracy (ROC-AUC)</a:t>
            </a:r>
          </a:p>
        </p:txBody>
      </p:sp>
      <p:sp>
        <p:nvSpPr>
          <p:cNvPr id="618" name="Text 618"/>
          <p:cNvSpPr txBox="1"/>
          <p:nvPr/>
        </p:nvSpPr>
        <p:spPr>
          <a:xfrm>
            <a:off x="7302500" y="2311400"/>
            <a:ext cx="1905000" cy="660400"/>
          </a:xfrm>
          <a:prstGeom prst="rect">
            <a:avLst/>
          </a:prstGeom>
          <a:noFill/>
        </p:spPr>
        <p:txBody>
          <a:bodyPr wrap="square" lIns="0" tIns="0" rIns="0" bIns="0" rtlCol="0" anchor="b"/>
          <a:lstStyle/>
          <a:p>
            <a:r>
              <a:rPr lang="en-US" sz="4000" b="1" dirty="0">
                <a:solidFill>
                  <a:srgbClr val="5F6B78"/>
                </a:solidFill>
              </a:rPr>
              <a:t>0.767</a:t>
            </a:r>
          </a:p>
        </p:txBody>
      </p:sp>
      <p:sp>
        <p:nvSpPr>
          <p:cNvPr id="619" name="Text 619"/>
          <p:cNvSpPr txBox="1"/>
          <p:nvPr/>
        </p:nvSpPr>
        <p:spPr>
          <a:xfrm>
            <a:off x="9461500" y="2311400"/>
            <a:ext cx="1905000" cy="660400"/>
          </a:xfrm>
          <a:prstGeom prst="rect">
            <a:avLst/>
          </a:prstGeom>
          <a:noFill/>
        </p:spPr>
        <p:txBody>
          <a:bodyPr wrap="square" lIns="0" tIns="0" rIns="0" bIns="0" rtlCol="0" anchor="b"/>
          <a:lstStyle/>
          <a:p>
            <a:r>
              <a:rPr lang="en-US" sz="4000" b="1" dirty="0">
                <a:solidFill>
                  <a:srgbClr val="1B2A41"/>
                </a:solidFill>
              </a:rPr>
              <a:t>0.753</a:t>
            </a:r>
          </a:p>
        </p:txBody>
      </p:sp>
      <p:sp>
        <p:nvSpPr>
          <p:cNvPr id="620" name="Text 620"/>
          <p:cNvSpPr txBox="1"/>
          <p:nvPr/>
        </p:nvSpPr>
        <p:spPr>
          <a:xfrm>
            <a:off x="7302500" y="2997200"/>
            <a:ext cx="1905000" cy="609600"/>
          </a:xfrm>
          <a:prstGeom prst="rect">
            <a:avLst/>
          </a:prstGeom>
          <a:noFill/>
        </p:spPr>
        <p:txBody>
          <a:bodyPr wrap="square" lIns="0" tIns="0" rIns="0" bIns="0" rtlCol="0" anchor="t"/>
          <a:lstStyle/>
          <a:p>
            <a:r>
              <a:rPr lang="en-US" sz="1800" dirty="0">
                <a:solidFill>
                  <a:srgbClr val="5F6B78"/>
                </a:solidFill>
              </a:rPr>
              <a:t>with a bureau record</a:t>
            </a:r>
          </a:p>
        </p:txBody>
      </p:sp>
      <p:sp>
        <p:nvSpPr>
          <p:cNvPr id="621" name="Text 621"/>
          <p:cNvSpPr txBox="1"/>
          <p:nvPr/>
        </p:nvSpPr>
        <p:spPr>
          <a:xfrm>
            <a:off x="9461500" y="2997200"/>
            <a:ext cx="1905000" cy="609600"/>
          </a:xfrm>
          <a:prstGeom prst="rect">
            <a:avLst/>
          </a:prstGeom>
          <a:noFill/>
        </p:spPr>
        <p:txBody>
          <a:bodyPr wrap="square" lIns="0" tIns="0" rIns="0" bIns="0" rtlCol="0" anchor="t"/>
          <a:lstStyle/>
          <a:p>
            <a:r>
              <a:rPr lang="en-US" sz="1800" dirty="0">
                <a:solidFill>
                  <a:srgbClr val="5F6B78"/>
                </a:solidFill>
              </a:rPr>
              <a:t>without one (44,021 applicants)</a:t>
            </a:r>
          </a:p>
        </p:txBody>
      </p:sp>
      <p:cxnSp>
        <p:nvCxnSpPr>
          <p:cNvPr id="622" name="Divider"/>
          <p:cNvCxnSpPr/>
          <p:nvPr/>
        </p:nvCxnSpPr>
        <p:spPr>
          <a:xfrm>
            <a:off x="7302500" y="3784600"/>
            <a:ext cx="4064000" cy="0"/>
          </a:xfrm>
          <a:prstGeom prst="line">
            <a:avLst/>
          </a:prstGeom>
          <a:ln w="9525">
            <a:solidFill>
              <a:srgbClr val="D9DEE3"/>
            </a:solidFill>
          </a:ln>
        </p:spPr>
      </p:cxnSp>
      <p:sp>
        <p:nvSpPr>
          <p:cNvPr id="623" name="Text 623"/>
          <p:cNvSpPr txBox="1"/>
          <p:nvPr/>
        </p:nvSpPr>
        <p:spPr>
          <a:xfrm>
            <a:off x="7302500" y="3937000"/>
            <a:ext cx="4064000" cy="660400"/>
          </a:xfrm>
          <a:prstGeom prst="rect">
            <a:avLst/>
          </a:prstGeom>
          <a:noFill/>
        </p:spPr>
        <p:txBody>
          <a:bodyPr wrap="square" lIns="0" tIns="0" rIns="0" bIns="0" rtlCol="0" anchor="b"/>
          <a:lstStyle/>
          <a:p>
            <a:r>
              <a:rPr lang="en-US" sz="4000" b="1" dirty="0">
                <a:solidFill>
                  <a:srgbClr val="2E7D32"/>
                </a:solidFill>
              </a:rPr>
              <a:t>7,800</a:t>
            </a:r>
          </a:p>
        </p:txBody>
      </p:sp>
      <p:sp>
        <p:nvSpPr>
          <p:cNvPr id="624" name="Text 624"/>
          <p:cNvSpPr txBox="1"/>
          <p:nvPr/>
        </p:nvSpPr>
        <p:spPr>
          <a:xfrm>
            <a:off x="7302500" y="4622800"/>
            <a:ext cx="4064000" cy="609600"/>
          </a:xfrm>
          <a:prstGeom prst="rect">
            <a:avLst/>
          </a:prstGeom>
          <a:noFill/>
        </p:spPr>
        <p:txBody>
          <a:bodyPr wrap="square" lIns="0" tIns="0" rIns="0" bIns="0" rtlCol="0" anchor="t"/>
          <a:lstStyle/>
          <a:p>
            <a:r>
              <a:rPr lang="en-US" sz="1800" dirty="0">
                <a:solidFill>
                  <a:srgbClr val="5F6B78"/>
                </a:solidFill>
              </a:rPr>
              <a:t>no-bureau borrowers in the safest tier, under 2% payment difficulty</a:t>
            </a:r>
          </a:p>
        </p:txBody>
      </p:sp>
      <p:sp>
        <p:nvSpPr>
          <p:cNvPr id="625" name="Text 625"/>
          <p:cNvSpPr txBox="1"/>
          <p:nvPr/>
        </p:nvSpPr>
        <p:spPr>
          <a:xfrm>
            <a:off x="546100" y="5740400"/>
            <a:ext cx="11061700" cy="660400"/>
          </a:xfrm>
          <a:prstGeom prst="rect">
            <a:avLst/>
          </a:prstGeom>
          <a:noFill/>
        </p:spPr>
        <p:txBody>
          <a:bodyPr wrap="square" lIns="0" tIns="0" rIns="0" bIns="0" rtlCol="0" anchor="t"/>
          <a:lstStyle/>
          <a:p>
            <a:r>
              <a:rPr lang="en-US" sz="1800" b="1" dirty="0">
                <a:solidFill>
                  <a:srgbClr val="2E7D32"/>
                </a:solidFill>
              </a:rPr>
              <a:t>Without a bureau record, the score still separates safe borrowers from risky ones.</a:t>
            </a:r>
          </a:p>
        </p:txBody>
      </p:sp>
    </p:spTree>
    <p:extLst>
      <p:ext uri="{BB962C8B-B14F-4D97-AF65-F5344CB8AC3E}">
        <p14:creationId xmlns:p14="http://schemas.microsoft.com/office/powerpoint/2010/main" val="2355419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normAutofit fontScale="90000"/>
          </a:bodyPr>
          <a:lstStyle/>
          <a:p>
            <a:pPr marL="0" indent="0" algn="l">
              <a:buNone/>
            </a:pPr>
            <a:r>
              <a:rPr lang="en-US" sz="3200" b="1" dirty="0">
                <a:solidFill>
                  <a:schemeClr val="tx2"/>
                </a:solidFill>
                <a:latin typeface="Cambria" pitchFamily="34" charset="0"/>
                <a:ea typeface="Cambria" pitchFamily="34" charset="-122"/>
                <a:cs typeface="Cambria" pitchFamily="34" charset="-120"/>
              </a:rPr>
              <a:t>Risk clusters: the riskiest 10% hold 35% of payment problems</a:t>
            </a:r>
            <a:endParaRPr lang="en-US" sz="3200" dirty="0"/>
          </a:p>
        </p:txBody>
      </p:sp>
      <p:graphicFrame>
        <p:nvGraphicFramePr>
          <p:cNvPr id="3" name="risk decile chart"/>
          <p:cNvGraphicFramePr/>
          <p:nvPr/>
        </p:nvGraphicFramePr>
        <p:xfrm>
          <a:off x="457200" y="1574800"/>
          <a:ext cx="7223760" cy="41859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48640" y="5791200"/>
            <a:ext cx="7223760" cy="558800"/>
          </a:xfrm>
          <a:prstGeom prst="rect">
            <a:avLst/>
          </a:prstGeom>
          <a:noFill/>
          <a:ln/>
        </p:spPr>
        <p:txBody>
          <a:bodyPr wrap="square" lIns="0" tIns="0" rIns="0" bIns="0" rtlCol="0" anchor="t"/>
          <a:lstStyle/>
          <a:p>
            <a:pPr marL="0" indent="0">
              <a:buNone/>
            </a:pPr>
            <a:r>
              <a:rPr lang="en-US" sz="1800" dirty="0">
                <a:solidFill>
                  <a:srgbClr val="2E7D32"/>
                </a:solidFill>
              </a:rPr>
              <a:t>■ </a:t>
            </a:r>
            <a:r>
              <a:rPr lang="en-US" sz="1800" dirty="0">
                <a:solidFill>
                  <a:srgbClr val="1F2933"/>
                </a:solidFill>
              </a:rPr>
              <a:t>Fast-track (deciles 1–3)     </a:t>
            </a:r>
            <a:r>
              <a:rPr lang="en-US" sz="1800" dirty="0">
                <a:solidFill>
                  <a:srgbClr val="8A99A8"/>
                </a:solidFill>
              </a:rPr>
              <a:t>■ </a:t>
            </a:r>
            <a:r>
              <a:rPr lang="en-US" sz="1800" dirty="0">
                <a:solidFill>
                  <a:srgbClr val="1F2933"/>
                </a:solidFill>
              </a:rPr>
              <a:t>Standard (4–9)     </a:t>
            </a:r>
            <a:r>
              <a:rPr lang="en-US" sz="1800" dirty="0">
                <a:solidFill>
                  <a:srgbClr val="B83227"/>
                </a:solidFill>
              </a:rPr>
              <a:t>■ </a:t>
            </a:r>
            <a:r>
              <a:rPr lang="en-US" sz="1800" dirty="0">
                <a:solidFill>
                  <a:srgbClr val="1F2933"/>
                </a:solidFill>
              </a:rPr>
              <a:t>Review (10)</a:t>
            </a:r>
          </a:p>
          <a:p>
            <a:pPr marL="0" indent="0">
              <a:buNone/>
            </a:pPr>
            <a:r>
              <a:rPr lang="en-US" sz="1800" i="1" dirty="0">
                <a:solidFill>
                  <a:srgbClr val="3E4C59"/>
                </a:solidFill>
              </a:rPr>
              <a:t>Average across all applicants: 8.1%</a:t>
            </a:r>
          </a:p>
        </p:txBody>
      </p:sp>
      <p:sp>
        <p:nvSpPr>
          <p:cNvPr id="5" name="aha card"/>
          <p:cNvSpPr/>
          <p:nvPr/>
        </p:nvSpPr>
        <p:spPr>
          <a:xfrm>
            <a:off x="8001000" y="1417320"/>
            <a:ext cx="3611880" cy="4846320"/>
          </a:xfrm>
          <a:prstGeom prst="roundRect">
            <a:avLst>
              <a:gd name="adj" fmla="val 3038"/>
            </a:avLst>
          </a:prstGeom>
          <a:solidFill>
            <a:schemeClr val="tx2"/>
          </a:solidFill>
          <a:ln/>
        </p:spPr>
        <p:txBody>
          <a:bodyPr/>
          <a:lstStyle/>
          <a:p>
            <a:endParaRPr lang="en-US"/>
          </a:p>
        </p:txBody>
      </p:sp>
      <p:sp>
        <p:nvSpPr>
          <p:cNvPr id="6" name="Text 3"/>
          <p:cNvSpPr txBox="1"/>
          <p:nvPr/>
        </p:nvSpPr>
        <p:spPr>
          <a:xfrm>
            <a:off x="8275320" y="1600200"/>
            <a:ext cx="3108960" cy="914400"/>
          </a:xfrm>
          <a:prstGeom prst="rect">
            <a:avLst/>
          </a:prstGeom>
          <a:noFill/>
          <a:ln/>
        </p:spPr>
        <p:txBody>
          <a:bodyPr wrap="square" lIns="0" tIns="0" rIns="0" bIns="0" rtlCol="0" anchor="t"/>
          <a:lstStyle/>
          <a:p>
            <a:pPr marL="0" indent="0">
              <a:buNone/>
            </a:pPr>
            <a:r>
              <a:rPr lang="en-US" sz="6000" b="1" dirty="0">
                <a:solidFill>
                  <a:schemeClr val="bg1"/>
                </a:solidFill>
                <a:latin typeface="Cambria" pitchFamily="34" charset="0"/>
                <a:ea typeface="Cambria" pitchFamily="34" charset="-122"/>
                <a:cs typeface="Cambria" pitchFamily="34" charset="-120"/>
              </a:rPr>
              <a:t>35%</a:t>
            </a:r>
            <a:endParaRPr lang="en-US" sz="6000" dirty="0"/>
          </a:p>
        </p:txBody>
      </p:sp>
      <p:sp>
        <p:nvSpPr>
          <p:cNvPr id="7" name="Text 4"/>
          <p:cNvSpPr txBox="1"/>
          <p:nvPr/>
        </p:nvSpPr>
        <p:spPr>
          <a:xfrm>
            <a:off x="8275320" y="2514600"/>
            <a:ext cx="3108960" cy="731520"/>
          </a:xfrm>
          <a:prstGeom prst="rect">
            <a:avLst/>
          </a:prstGeom>
          <a:noFill/>
          <a:ln/>
        </p:spPr>
        <p:txBody>
          <a:bodyPr wrap="square" lIns="0" tIns="0" rIns="0" bIns="0" rtlCol="0" anchor="t"/>
          <a:lstStyle/>
          <a:p>
            <a:pPr marL="0" indent="0">
              <a:buNone/>
            </a:pPr>
            <a:r>
              <a:rPr lang="en-US" sz="1900" dirty="0">
                <a:solidFill>
                  <a:srgbClr val="D9DEE3"/>
                </a:solidFill>
              </a:rPr>
              <a:t>of all payment problems are caught in the riskiest 10%</a:t>
            </a:r>
            <a:endParaRPr lang="en-US" sz="1900" dirty="0"/>
          </a:p>
        </p:txBody>
      </p:sp>
      <p:sp>
        <p:nvSpPr>
          <p:cNvPr id="8" name="Text 5"/>
          <p:cNvSpPr txBox="1"/>
          <p:nvPr/>
        </p:nvSpPr>
        <p:spPr>
          <a:xfrm>
            <a:off x="8275320" y="3327400"/>
            <a:ext cx="3108960" cy="71120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+470–570</a:t>
            </a:r>
            <a:endParaRPr lang="en-US" sz="5400" dirty="0"/>
          </a:p>
        </p:txBody>
      </p:sp>
      <p:sp>
        <p:nvSpPr>
          <p:cNvPr id="9" name="Text 6"/>
          <p:cNvSpPr txBox="1"/>
          <p:nvPr/>
        </p:nvSpPr>
        <p:spPr>
          <a:xfrm>
            <a:off x="8275320" y="3987800"/>
            <a:ext cx="3108960" cy="1498600"/>
          </a:xfrm>
          <a:prstGeom prst="rect">
            <a:avLst/>
          </a:prstGeom>
          <a:noFill/>
          <a:ln/>
        </p:spPr>
        <p:txBody>
          <a:bodyPr wrap="square" lIns="0" tIns="0" rIns="0" bIns="0" rtlCol="0" anchor="t"/>
          <a:lstStyle/>
          <a:p>
            <a:pPr marL="0" indent="0">
              <a:buNone/>
            </a:pPr>
            <a:r>
              <a:rPr lang="en-US" sz="1900" dirty="0">
                <a:solidFill>
                  <a:srgbClr val="D9DEE3"/>
                </a:solidFill>
              </a:rPr>
              <a:t>more payment problems caught per 100,000 applications than external scores alone (32% vs. 24% for no-bureau applicants)</a:t>
            </a:r>
            <a:endParaRPr lang="en-US" sz="1900" dirty="0"/>
          </a:p>
        </p:txBody>
      </p:sp>
      <p:sp>
        <p:nvSpPr>
          <p:cNvPr id="10" name="Text 7"/>
          <p:cNvSpPr txBox="1"/>
          <p:nvPr/>
        </p:nvSpPr>
        <p:spPr>
          <a:xfrm>
            <a:off x="8275320" y="5562600"/>
            <a:ext cx="3108960" cy="660400"/>
          </a:xfrm>
          <a:prstGeom prst="rect">
            <a:avLst/>
          </a:prstGeom>
          <a:noFill/>
          <a:ln/>
        </p:spPr>
        <p:txBody>
          <a:bodyPr wrap="square" lIns="0" tIns="0" rIns="0" bIns="0" rtlCol="0" anchor="t"/>
          <a:lstStyle/>
          <a:p>
            <a:pPr marL="0" indent="0">
              <a:buNone/>
            </a:pPr>
            <a:r>
              <a:rPr lang="en-US" sz="1900" b="1" dirty="0">
                <a:solidFill>
                  <a:schemeClr val="bg1"/>
                </a:solidFill>
              </a:rPr>
              <a:t>Predicted rates match actual rates in every group</a:t>
            </a:r>
            <a:endParaRPr lang="en-US" sz="19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8</a:t>
            </a:fld>
            <a:endParaRPr lang="en-US"/>
          </a:p>
        </p:txBody>
      </p:sp>
      <p:sp>
        <p:nvSpPr>
          <p:cNvPr id="400" name="Chart label"/>
          <p:cNvSpPr txBox="1"/>
          <p:nvPr/>
        </p:nvSpPr>
        <p:spPr>
          <a:xfrm>
            <a:off x="546100" y="1231900"/>
            <a:ext cx="7112000" cy="304800"/>
          </a:xfrm>
          <a:prstGeom prst="rect">
            <a:avLst/>
          </a:prstGeom>
          <a:noFill/>
        </p:spPr>
        <p:txBody>
          <a:bodyPr wrap="square" lIns="0" tIns="0" rIns="0" bIns="0" rtlCol="0" anchor="t"/>
          <a:lstStyle/>
          <a:p>
            <a:r>
              <a:rPr lang="en-US" sz="1800" dirty="0">
                <a:solidFill>
                  <a:srgbClr val="5F6B78"/>
                </a:solidFill>
              </a:rPr>
              <a:t>Payment-difficulty rate, %</a:t>
            </a:r>
          </a:p>
        </p:txBody>
      </p:sp>
    </p:spTree>
    <p:extLst>
      <p:ext uri="{BB962C8B-B14F-4D97-AF65-F5344CB8AC3E}">
        <p14:creationId xmlns:p14="http://schemas.microsoft.com/office/powerpoint/2010/main" val="2666876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Reviewing the riskiest 10% pays for itself</a:t>
            </a:r>
            <a:endParaRPr lang="en-US" sz="3200" dirty="0"/>
          </a:p>
        </p:txBody>
      </p:sp>
      <p:sp>
        <p:nvSpPr>
          <p:cNvPr id="3" name="Fast-track tier card"/>
          <p:cNvSpPr/>
          <p:nvPr/>
        </p:nvSpPr>
        <p:spPr>
          <a:xfrm>
            <a:off x="548640" y="1371600"/>
            <a:ext cx="2148840" cy="2331720"/>
          </a:xfrm>
          <a:prstGeom prst="roundRect">
            <a:avLst>
              <a:gd name="adj" fmla="val 4255"/>
            </a:avLst>
          </a:prstGeom>
          <a:solidFill>
            <a:srgbClr val="2E7D32"/>
          </a:solidFill>
          <a:ln/>
        </p:spPr>
        <p:txBody>
          <a:bodyPr/>
          <a:lstStyle/>
          <a:p>
            <a:endParaRPr lang="en-US"/>
          </a:p>
        </p:txBody>
      </p:sp>
      <p:sp>
        <p:nvSpPr>
          <p:cNvPr id="4" name="Fast-track circle"/>
          <p:cNvSpPr/>
          <p:nvPr/>
        </p:nvSpPr>
        <p:spPr>
          <a:xfrm>
            <a:off x="731520" y="1554480"/>
            <a:ext cx="548640" cy="548640"/>
          </a:xfrm>
          <a:prstGeom prst="ellipse">
            <a:avLst/>
          </a:prstGeom>
          <a:solidFill>
            <a:srgbClr val="1B5E20"/>
          </a:solidFill>
          <a:ln/>
        </p:spPr>
        <p:txBody>
          <a:bodyPr/>
          <a:lstStyle/>
          <a:p>
            <a:endParaRPr lang="en-US"/>
          </a:p>
        </p:txBody>
      </p:sp>
      <p:pic>
        <p:nvPicPr>
          <p:cNvPr id="5" name="Fast-track icon" descr="preencoded.png"/>
          <p:cNvPicPr>
            <a:picLocks noChangeAspect="1"/>
          </p:cNvPicPr>
          <p:nvPr/>
        </p:nvPicPr>
        <p:blipFill>
          <a:blip r:embed="rId3"/>
          <a:stretch>
            <a:fillRect/>
          </a:stretch>
        </p:blipFill>
        <p:spPr>
          <a:xfrm>
            <a:off x="868680" y="1691640"/>
            <a:ext cx="274320" cy="274320"/>
          </a:xfrm>
          <a:prstGeom prst="rect">
            <a:avLst/>
          </a:prstGeom>
        </p:spPr>
      </p:pic>
      <p:sp>
        <p:nvSpPr>
          <p:cNvPr id="6" name="Text 3"/>
          <p:cNvSpPr txBox="1"/>
          <p:nvPr/>
        </p:nvSpPr>
        <p:spPr>
          <a:xfrm>
            <a:off x="731520" y="2240280"/>
            <a:ext cx="1874520" cy="411480"/>
          </a:xfrm>
          <a:prstGeom prst="rect">
            <a:avLst/>
          </a:prstGeom>
          <a:noFill/>
          <a:ln/>
        </p:spPr>
        <p:txBody>
          <a:bodyPr wrap="square" lIns="0" tIns="0" rIns="0" bIns="0" rtlCol="0" anchor="t"/>
          <a:lstStyle/>
          <a:p>
            <a:pPr marL="0" indent="0">
              <a:buNone/>
            </a:pPr>
            <a:r>
              <a:rPr lang="en-US" sz="2000" b="1" dirty="0">
                <a:solidFill>
                  <a:srgbClr val="FFFFFF"/>
                </a:solidFill>
              </a:rPr>
              <a:t>Fast-track</a:t>
            </a:r>
            <a:endParaRPr lang="en-US" sz="2000" dirty="0"/>
          </a:p>
        </p:txBody>
      </p:sp>
      <p:sp>
        <p:nvSpPr>
          <p:cNvPr id="7" name="Text 4"/>
          <p:cNvSpPr txBox="1"/>
          <p:nvPr/>
        </p:nvSpPr>
        <p:spPr>
          <a:xfrm>
            <a:off x="731520" y="2697480"/>
            <a:ext cx="1920240" cy="365760"/>
          </a:xfrm>
          <a:prstGeom prst="rect">
            <a:avLst/>
          </a:prstGeom>
          <a:noFill/>
          <a:ln/>
        </p:spPr>
        <p:txBody>
          <a:bodyPr wrap="square" lIns="0" tIns="0" rIns="0" bIns="0" rtlCol="0" anchor="t"/>
          <a:lstStyle/>
          <a:p>
            <a:pPr marL="0" indent="0">
              <a:buNone/>
            </a:pPr>
            <a:r>
              <a:rPr lang="en-US" sz="1800" dirty="0">
                <a:solidFill>
                  <a:srgbClr val="FFFFFF"/>
                </a:solidFill>
              </a:rPr>
              <a:t>Safest 30%</a:t>
            </a:r>
            <a:endParaRPr lang="en-US" sz="1800" dirty="0"/>
          </a:p>
        </p:txBody>
      </p:sp>
      <p:sp>
        <p:nvSpPr>
          <p:cNvPr id="8" name="Text 5"/>
          <p:cNvSpPr txBox="1"/>
          <p:nvPr/>
        </p:nvSpPr>
        <p:spPr>
          <a:xfrm>
            <a:off x="731520" y="3108960"/>
            <a:ext cx="1920240" cy="365760"/>
          </a:xfrm>
          <a:prstGeom prst="rect">
            <a:avLst/>
          </a:prstGeom>
          <a:noFill/>
          <a:ln/>
        </p:spPr>
        <p:txBody>
          <a:bodyPr wrap="square" lIns="0" tIns="0" rIns="0" bIns="0" rtlCol="0" anchor="t"/>
          <a:lstStyle/>
          <a:p>
            <a:pPr marL="0" indent="0">
              <a:buNone/>
            </a:pPr>
            <a:r>
              <a:rPr lang="en-US" sz="1800" b="1" dirty="0">
                <a:solidFill>
                  <a:srgbClr val="FFFFFF"/>
                </a:solidFill>
              </a:rPr>
              <a:t>1.9% risk</a:t>
            </a:r>
            <a:endParaRPr lang="en-US" sz="1800" dirty="0"/>
          </a:p>
        </p:txBody>
      </p:sp>
      <p:sp>
        <p:nvSpPr>
          <p:cNvPr id="9" name="Standard tier card"/>
          <p:cNvSpPr/>
          <p:nvPr/>
        </p:nvSpPr>
        <p:spPr>
          <a:xfrm>
            <a:off x="2834640" y="1371600"/>
            <a:ext cx="2148840" cy="2331720"/>
          </a:xfrm>
          <a:prstGeom prst="roundRect">
            <a:avLst>
              <a:gd name="adj" fmla="val 4255"/>
            </a:avLst>
          </a:prstGeom>
          <a:solidFill>
            <a:srgbClr val="5F6B78"/>
          </a:solidFill>
          <a:ln/>
        </p:spPr>
        <p:txBody>
          <a:bodyPr/>
          <a:lstStyle/>
          <a:p>
            <a:endParaRPr lang="en-US"/>
          </a:p>
        </p:txBody>
      </p:sp>
      <p:sp>
        <p:nvSpPr>
          <p:cNvPr id="10" name="Standard circle"/>
          <p:cNvSpPr/>
          <p:nvPr/>
        </p:nvSpPr>
        <p:spPr>
          <a:xfrm>
            <a:off x="3017520" y="1554480"/>
            <a:ext cx="548640" cy="548640"/>
          </a:xfrm>
          <a:prstGeom prst="ellipse">
            <a:avLst/>
          </a:prstGeom>
          <a:solidFill>
            <a:srgbClr val="3E4C59"/>
          </a:solidFill>
          <a:ln/>
        </p:spPr>
        <p:txBody>
          <a:bodyPr/>
          <a:lstStyle/>
          <a:p>
            <a:endParaRPr lang="en-US"/>
          </a:p>
        </p:txBody>
      </p:sp>
      <p:pic>
        <p:nvPicPr>
          <p:cNvPr id="11" name="Standard icon" descr="preencoded.png"/>
          <p:cNvPicPr>
            <a:picLocks noChangeAspect="1"/>
          </p:cNvPicPr>
          <p:nvPr/>
        </p:nvPicPr>
        <p:blipFill>
          <a:blip r:embed="rId4"/>
          <a:stretch>
            <a:fillRect/>
          </a:stretch>
        </p:blipFill>
        <p:spPr>
          <a:xfrm>
            <a:off x="3154680" y="1691640"/>
            <a:ext cx="274320" cy="274320"/>
          </a:xfrm>
          <a:prstGeom prst="rect">
            <a:avLst/>
          </a:prstGeom>
        </p:spPr>
      </p:pic>
      <p:sp>
        <p:nvSpPr>
          <p:cNvPr id="12" name="Text 8"/>
          <p:cNvSpPr txBox="1"/>
          <p:nvPr/>
        </p:nvSpPr>
        <p:spPr>
          <a:xfrm>
            <a:off x="3017520" y="2240280"/>
            <a:ext cx="1874520" cy="411480"/>
          </a:xfrm>
          <a:prstGeom prst="rect">
            <a:avLst/>
          </a:prstGeom>
          <a:noFill/>
          <a:ln/>
        </p:spPr>
        <p:txBody>
          <a:bodyPr wrap="square" lIns="0" tIns="0" rIns="0" bIns="0" rtlCol="0" anchor="t"/>
          <a:lstStyle/>
          <a:p>
            <a:pPr marL="0" indent="0">
              <a:buNone/>
            </a:pPr>
            <a:r>
              <a:rPr lang="en-US" sz="2000" b="1" dirty="0">
                <a:solidFill>
                  <a:srgbClr val="FFFFFF"/>
                </a:solidFill>
              </a:rPr>
              <a:t>Standard</a:t>
            </a:r>
            <a:endParaRPr lang="en-US" sz="2000" dirty="0"/>
          </a:p>
        </p:txBody>
      </p:sp>
      <p:sp>
        <p:nvSpPr>
          <p:cNvPr id="13" name="Text 9"/>
          <p:cNvSpPr txBox="1"/>
          <p:nvPr/>
        </p:nvSpPr>
        <p:spPr>
          <a:xfrm>
            <a:off x="3017520" y="2697480"/>
            <a:ext cx="1920240" cy="365760"/>
          </a:xfrm>
          <a:prstGeom prst="rect">
            <a:avLst/>
          </a:prstGeom>
          <a:noFill/>
          <a:ln/>
        </p:spPr>
        <p:txBody>
          <a:bodyPr wrap="square" lIns="0" tIns="0" rIns="0" bIns="0" rtlCol="0" anchor="t"/>
          <a:lstStyle/>
          <a:p>
            <a:pPr marL="0" indent="0">
              <a:buNone/>
            </a:pPr>
            <a:r>
              <a:rPr lang="en-US" sz="1800" dirty="0">
                <a:solidFill>
                  <a:srgbClr val="FFFFFF"/>
                </a:solidFill>
              </a:rPr>
              <a:t>Middle 60%</a:t>
            </a:r>
            <a:endParaRPr lang="en-US" sz="1800" dirty="0"/>
          </a:p>
        </p:txBody>
      </p:sp>
      <p:sp>
        <p:nvSpPr>
          <p:cNvPr id="14" name="Text 10"/>
          <p:cNvSpPr txBox="1"/>
          <p:nvPr/>
        </p:nvSpPr>
        <p:spPr>
          <a:xfrm>
            <a:off x="3017520" y="3108960"/>
            <a:ext cx="1920240" cy="365760"/>
          </a:xfrm>
          <a:prstGeom prst="rect">
            <a:avLst/>
          </a:prstGeom>
          <a:noFill/>
          <a:ln/>
        </p:spPr>
        <p:txBody>
          <a:bodyPr wrap="square" lIns="0" tIns="0" rIns="0" bIns="0" rtlCol="0" anchor="t"/>
          <a:lstStyle/>
          <a:p>
            <a:pPr marL="0" indent="0">
              <a:buNone/>
            </a:pPr>
            <a:r>
              <a:rPr lang="en-US" sz="1800" b="1" dirty="0">
                <a:solidFill>
                  <a:srgbClr val="FFFFFF"/>
                </a:solidFill>
              </a:rPr>
              <a:t>7.8% risk</a:t>
            </a:r>
            <a:endParaRPr lang="en-US" sz="1800" dirty="0"/>
          </a:p>
        </p:txBody>
      </p:sp>
      <p:sp>
        <p:nvSpPr>
          <p:cNvPr id="15" name="Enhanced review tier card"/>
          <p:cNvSpPr/>
          <p:nvPr/>
        </p:nvSpPr>
        <p:spPr>
          <a:xfrm>
            <a:off x="5120640" y="1371600"/>
            <a:ext cx="2148840" cy="2331720"/>
          </a:xfrm>
          <a:prstGeom prst="roundRect">
            <a:avLst>
              <a:gd name="adj" fmla="val 4255"/>
            </a:avLst>
          </a:prstGeom>
          <a:solidFill>
            <a:srgbClr val="B83227"/>
          </a:solidFill>
          <a:ln/>
        </p:spPr>
        <p:txBody>
          <a:bodyPr/>
          <a:lstStyle/>
          <a:p>
            <a:endParaRPr lang="en-US"/>
          </a:p>
        </p:txBody>
      </p:sp>
      <p:sp>
        <p:nvSpPr>
          <p:cNvPr id="16" name="Enhanced review circle"/>
          <p:cNvSpPr/>
          <p:nvPr/>
        </p:nvSpPr>
        <p:spPr>
          <a:xfrm>
            <a:off x="5303520" y="1554480"/>
            <a:ext cx="548640" cy="548640"/>
          </a:xfrm>
          <a:prstGeom prst="ellipse">
            <a:avLst/>
          </a:prstGeom>
          <a:solidFill>
            <a:srgbClr val="8E241C"/>
          </a:solidFill>
          <a:ln/>
        </p:spPr>
        <p:txBody>
          <a:bodyPr/>
          <a:lstStyle/>
          <a:p>
            <a:endParaRPr lang="en-US"/>
          </a:p>
        </p:txBody>
      </p:sp>
      <p:pic>
        <p:nvPicPr>
          <p:cNvPr id="17" name="Enhanced review icon" descr="preencoded.png"/>
          <p:cNvPicPr>
            <a:picLocks noChangeAspect="1"/>
          </p:cNvPicPr>
          <p:nvPr/>
        </p:nvPicPr>
        <p:blipFill>
          <a:blip r:embed="rId5"/>
          <a:stretch>
            <a:fillRect/>
          </a:stretch>
        </p:blipFill>
        <p:spPr>
          <a:xfrm>
            <a:off x="5440680" y="1691640"/>
            <a:ext cx="274320" cy="274320"/>
          </a:xfrm>
          <a:prstGeom prst="rect">
            <a:avLst/>
          </a:prstGeom>
        </p:spPr>
      </p:pic>
      <p:sp>
        <p:nvSpPr>
          <p:cNvPr id="18" name="Text 13"/>
          <p:cNvSpPr txBox="1"/>
          <p:nvPr/>
        </p:nvSpPr>
        <p:spPr>
          <a:xfrm>
            <a:off x="5303520" y="2240280"/>
            <a:ext cx="1874520" cy="411480"/>
          </a:xfrm>
          <a:prstGeom prst="rect">
            <a:avLst/>
          </a:prstGeom>
          <a:noFill/>
          <a:ln/>
        </p:spPr>
        <p:txBody>
          <a:bodyPr wrap="square" lIns="0" tIns="0" rIns="0" bIns="0" rtlCol="0" anchor="t"/>
          <a:lstStyle/>
          <a:p>
            <a:pPr marL="0" indent="0">
              <a:buNone/>
            </a:pPr>
            <a:r>
              <a:rPr lang="en-US" sz="2000" b="1" dirty="0">
                <a:solidFill>
                  <a:srgbClr val="FFFFFF"/>
                </a:solidFill>
              </a:rPr>
              <a:t>Review</a:t>
            </a:r>
            <a:endParaRPr lang="en-US" sz="2000" dirty="0"/>
          </a:p>
        </p:txBody>
      </p:sp>
      <p:sp>
        <p:nvSpPr>
          <p:cNvPr id="19" name="Text 14"/>
          <p:cNvSpPr txBox="1"/>
          <p:nvPr/>
        </p:nvSpPr>
        <p:spPr>
          <a:xfrm>
            <a:off x="5303520" y="2697480"/>
            <a:ext cx="1920240" cy="365760"/>
          </a:xfrm>
          <a:prstGeom prst="rect">
            <a:avLst/>
          </a:prstGeom>
          <a:noFill/>
          <a:ln/>
        </p:spPr>
        <p:txBody>
          <a:bodyPr wrap="square" lIns="0" tIns="0" rIns="0" bIns="0" rtlCol="0" anchor="t"/>
          <a:lstStyle/>
          <a:p>
            <a:pPr marL="0" indent="0">
              <a:buNone/>
            </a:pPr>
            <a:r>
              <a:rPr lang="en-US" sz="1800" dirty="0">
                <a:solidFill>
                  <a:srgbClr val="FFFFFF"/>
                </a:solidFill>
              </a:rPr>
              <a:t>Riskiest 10%</a:t>
            </a:r>
            <a:endParaRPr lang="en-US" sz="1800" dirty="0"/>
          </a:p>
        </p:txBody>
      </p:sp>
      <p:sp>
        <p:nvSpPr>
          <p:cNvPr id="20" name="Text 15"/>
          <p:cNvSpPr txBox="1"/>
          <p:nvPr/>
        </p:nvSpPr>
        <p:spPr>
          <a:xfrm>
            <a:off x="5303520" y="3108960"/>
            <a:ext cx="1920240" cy="365760"/>
          </a:xfrm>
          <a:prstGeom prst="rect">
            <a:avLst/>
          </a:prstGeom>
          <a:noFill/>
          <a:ln/>
        </p:spPr>
        <p:txBody>
          <a:bodyPr wrap="square" lIns="0" tIns="0" rIns="0" bIns="0" rtlCol="0" anchor="t"/>
          <a:lstStyle/>
          <a:p>
            <a:pPr marL="0" indent="0">
              <a:buNone/>
            </a:pPr>
            <a:r>
              <a:rPr lang="en-US" sz="1800" b="1" dirty="0">
                <a:solidFill>
                  <a:srgbClr val="FFFFFF"/>
                </a:solidFill>
              </a:rPr>
              <a:t>28.3% risk</a:t>
            </a:r>
            <a:endParaRPr lang="en-US" sz="1800" dirty="0"/>
          </a:p>
        </p:txBody>
      </p:sp>
      <p:sp>
        <p:nvSpPr>
          <p:cNvPr id="22" name="Text 17"/>
          <p:cNvSpPr txBox="1"/>
          <p:nvPr/>
        </p:nvSpPr>
        <p:spPr>
          <a:xfrm>
            <a:off x="546100" y="5029200"/>
            <a:ext cx="6946900" cy="914400"/>
          </a:xfrm>
          <a:prstGeom prst="rect">
            <a:avLst/>
          </a:prstGeom>
          <a:noFill/>
          <a:ln/>
        </p:spPr>
        <p:txBody>
          <a:bodyPr wrap="square" lIns="0" tIns="0" rIns="0" bIns="0" rtlCol="0" anchor="t"/>
          <a:lstStyle/>
          <a:p>
            <a:pPr marL="0" indent="0">
              <a:buNone/>
            </a:pPr>
            <a:r>
              <a:rPr lang="en-US" sz="1800" i="1" dirty="0">
                <a:solidFill>
                  <a:srgbClr val="3E4C59"/>
                </a:solidFill>
              </a:rPr>
              <a:t>Illustrative assumptions: average loan $599K; 50% of the loan lost on payment difficulty; 10% profit on a repaid loan; review counted as a decline.</a:t>
            </a:r>
            <a:endParaRPr lang="en-US" sz="1800" dirty="0"/>
          </a:p>
        </p:txBody>
      </p:sp>
      <p:graphicFrame>
        <p:nvGraphicFramePr>
          <p:cNvPr id="23" name="impact table"/>
          <p:cNvGraphicFramePr>
            <a:graphicFrameLocks noGrp="1"/>
          </p:cNvGraphicFramePr>
          <p:nvPr/>
        </p:nvGraphicFramePr>
        <p:xfrm>
          <a:off x="7589520" y="1371600"/>
          <a:ext cx="4069080" cy="3621024"/>
        </p:xfrm>
        <a:graphic>
          <a:graphicData uri="http://schemas.openxmlformats.org/drawingml/2006/table">
            <a:tbl>
              <a:tblPr/>
              <a:tblGrid>
                <a:gridCol w="2908300">
                  <a:extLst>
                    <a:ext uri="{9D8B030D-6E8A-4147-A177-3AD203B41FA5}">
                      <a16:colId xmlns:a16="http://schemas.microsoft.com/office/drawing/2014/main" val="20000"/>
                    </a:ext>
                  </a:extLst>
                </a:gridCol>
                <a:gridCol w="1160780">
                  <a:extLst>
                    <a:ext uri="{9D8B030D-6E8A-4147-A177-3AD203B41FA5}">
                      <a16:colId xmlns:a16="http://schemas.microsoft.com/office/drawing/2014/main" val="20001"/>
                    </a:ext>
                  </a:extLst>
                </a:gridCol>
              </a:tblGrid>
              <a:tr h="566928">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Per 100,000 applications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tc>
                  <a:txBody>
                    <a:bodyPr/>
                    <a:lstStyle/>
                    <a:p>
                      <a:pPr marL="0" indent="0" algn="r">
                        <a:buNone/>
                      </a:pPr>
                      <a:r>
                        <a:rPr lang="en-US" sz="1800" b="1" dirty="0">
                          <a:solidFill>
                            <a:srgbClr val="FFFFFF"/>
                          </a:solidFill>
                          <a:latin typeface="Calibri" pitchFamily="34" charset="0"/>
                          <a:ea typeface="Calibri" pitchFamily="34" charset="-122"/>
                          <a:cs typeface="Calibri" pitchFamily="34" charset="-120"/>
                        </a:rPr>
                        <a:t>Value</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66928">
                <a:tc>
                  <a:txBody>
                    <a:bodyPr/>
                    <a:lstStyle/>
                    <a:p>
                      <a:pPr marL="0" indent="0" algn="l">
                        <a:buNone/>
                      </a:pPr>
                      <a:r>
                        <a:rPr lang="en-US" sz="1800" dirty="0">
                          <a:solidFill>
                            <a:srgbClr val="1F2933"/>
                          </a:solidFill>
                          <a:latin typeface="Calibri" pitchFamily="34" charset="0"/>
                          <a:ea typeface="Calibri" pitchFamily="34" charset="-122"/>
                          <a:cs typeface="Calibri" pitchFamily="34" charset="-120"/>
                        </a:rPr>
                        <a:t>Applicants in the riskiest 10%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lgn="r">
                        <a:buNone/>
                      </a:pPr>
                      <a:r>
                        <a:rPr lang="en-US" sz="1800" dirty="0">
                          <a:solidFill>
                            <a:srgbClr val="1F2933"/>
                          </a:solidFill>
                          <a:latin typeface="Calibri" pitchFamily="34" charset="0"/>
                          <a:ea typeface="Calibri" pitchFamily="34" charset="-122"/>
                          <a:cs typeface="Calibri" pitchFamily="34" charset="-120"/>
                        </a:rPr>
                        <a:t>10,000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l">
                        <a:buNone/>
                      </a:pPr>
                      <a:r>
                        <a:rPr lang="en-US" sz="1800" dirty="0">
                          <a:solidFill>
                            <a:srgbClr val="1F2933"/>
                          </a:solidFill>
                          <a:latin typeface="Calibri" pitchFamily="34" charset="0"/>
                          <a:ea typeface="Calibri" pitchFamily="34" charset="-122"/>
                          <a:cs typeface="Calibri" pitchFamily="34" charset="-120"/>
                        </a:rPr>
                        <a:t>…of whom had payment difficulty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lgn="r">
                        <a:buNone/>
                      </a:pPr>
                      <a:r>
                        <a:rPr lang="en-US" sz="1800" dirty="0">
                          <a:solidFill>
                            <a:srgbClr val="1F2933"/>
                          </a:solidFill>
                          <a:latin typeface="Calibri" pitchFamily="34" charset="0"/>
                          <a:ea typeface="Calibri" pitchFamily="34" charset="-122"/>
                          <a:cs typeface="Calibri" pitchFamily="34" charset="-120"/>
                        </a:rPr>
                        <a:t>2,828</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l">
                        <a:buNone/>
                      </a:pPr>
                      <a:r>
                        <a:rPr lang="en-US" sz="1800" dirty="0">
                          <a:solidFill>
                            <a:srgbClr val="1F2933"/>
                          </a:solidFill>
                          <a:latin typeface="Calibri" pitchFamily="34" charset="0"/>
                          <a:ea typeface="Calibri" pitchFamily="34" charset="-122"/>
                          <a:cs typeface="Calibri" pitchFamily="34" charset="-120"/>
                        </a:rPr>
                        <a:t>Losses avoided  (2,828 × $599K × 50%)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lgn="r">
                        <a:buNone/>
                      </a:pPr>
                      <a:r>
                        <a:rPr lang="en-US" sz="1800" dirty="0">
                          <a:solidFill>
                            <a:srgbClr val="1F2933"/>
                          </a:solidFill>
                          <a:latin typeface="Calibri" pitchFamily="34" charset="0"/>
                          <a:ea typeface="Calibri" pitchFamily="34" charset="-122"/>
                          <a:cs typeface="Calibri" pitchFamily="34" charset="-120"/>
                        </a:rPr>
                        <a:t>+$847M</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lgn="l">
                        <a:buNone/>
                      </a:pPr>
                      <a:r>
                        <a:rPr lang="en-US" sz="1800" dirty="0">
                          <a:solidFill>
                            <a:srgbClr val="1F2933"/>
                          </a:solidFill>
                          <a:latin typeface="Calibri" pitchFamily="34" charset="0"/>
                          <a:ea typeface="Calibri" pitchFamily="34" charset="-122"/>
                          <a:cs typeface="Calibri" pitchFamily="34" charset="-120"/>
                        </a:rPr>
                        <a:t>Profit forgone  (7,172 × $599K × 10%)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lgn="r">
                        <a:buNone/>
                      </a:pPr>
                      <a:r>
                        <a:rPr lang="en-US" sz="1800" dirty="0">
                          <a:solidFill>
                            <a:srgbClr val="1F2933"/>
                          </a:solidFill>
                          <a:latin typeface="Calibri" pitchFamily="34" charset="0"/>
                          <a:ea typeface="Calibri" pitchFamily="34" charset="-122"/>
                          <a:cs typeface="Calibri" pitchFamily="34" charset="-120"/>
                        </a:rPr>
                        <a:t>−$430M</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lgn="l">
                        <a:buNone/>
                      </a:pPr>
                      <a:r>
                        <a:rPr lang="en-US" sz="1800" b="1" dirty="0">
                          <a:solidFill>
                            <a:srgbClr val="1F2933"/>
                          </a:solidFill>
                          <a:latin typeface="Calibri" pitchFamily="34" charset="0"/>
                          <a:ea typeface="Calibri" pitchFamily="34" charset="-122"/>
                          <a:cs typeface="Calibri" pitchFamily="34" charset="-120"/>
                        </a:rPr>
                        <a:t>Net benefit</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lgn="r">
                        <a:buNone/>
                      </a:pPr>
                      <a:r>
                        <a:rPr lang="en-US" sz="1800" b="1" dirty="0">
                          <a:solidFill>
                            <a:srgbClr val="0F7C80"/>
                          </a:solidFill>
                          <a:latin typeface="Calibri" pitchFamily="34" charset="0"/>
                          <a:ea typeface="Calibri" pitchFamily="34" charset="-122"/>
                          <a:cs typeface="Calibri" pitchFamily="34" charset="-120"/>
                        </a:rPr>
                        <a:t>≈ +$417M</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01" name="text 301"/>
          <p:cNvSpPr txBox="1"/>
          <p:nvPr/>
        </p:nvSpPr>
        <p:spPr>
          <a:xfrm>
            <a:off x="736600" y="3784600"/>
            <a:ext cx="4191000" cy="304800"/>
          </a:xfrm>
          <a:prstGeom prst="rect">
            <a:avLst/>
          </a:prstGeom>
          <a:noFill/>
        </p:spPr>
        <p:txBody>
          <a:bodyPr wrap="square" lIns="0" tIns="0" rIns="0" bIns="0" rtlCol="0" anchor="t">
            <a:noAutofit/>
          </a:bodyPr>
          <a:lstStyle/>
          <a:p>
            <a:r>
              <a:rPr lang="en-US" sz="1800" b="1" dirty="0">
                <a:solidFill>
                  <a:srgbClr val="2E7D32"/>
                </a:solidFill>
              </a:rPr>
              <a:t>← applicants like Maria</a:t>
            </a:r>
          </a:p>
        </p:txBody>
      </p:sp>
      <p:sp>
        <p:nvSpPr>
          <p:cNvPr id="302" name="text 302"/>
          <p:cNvSpPr txBox="1"/>
          <p:nvPr/>
        </p:nvSpPr>
        <p:spPr>
          <a:xfrm>
            <a:off x="7594600" y="5232400"/>
            <a:ext cx="4064000" cy="1270000"/>
          </a:xfrm>
          <a:prstGeom prst="rect">
            <a:avLst/>
          </a:prstGeom>
          <a:noFill/>
        </p:spPr>
        <p:txBody>
          <a:bodyPr wrap="square" lIns="0" tIns="0" rIns="0" bIns="0" rtlCol="0" anchor="t">
            <a:noAutofit/>
          </a:bodyPr>
          <a:lstStyle/>
          <a:p>
            <a:r>
              <a:rPr lang="en-US" sz="1800" b="1" dirty="0">
                <a:solidFill>
                  <a:srgbClr val="2E7D32"/>
                </a:solidFill>
              </a:rPr>
              <a:t>Growth test: </a:t>
            </a:r>
            <a:r>
              <a:rPr lang="en-US" sz="1800" dirty="0">
                <a:solidFill>
                  <a:srgbClr val="1F2933"/>
                </a:solidFill>
              </a:rPr>
              <a:t>10% more loans than today stays within 8% if new borrowers run under 17.8% risk.</a:t>
            </a:r>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9</a:t>
            </a:fld>
            <a:endParaRPr lang="en-US"/>
          </a:p>
        </p:txBody>
      </p:sp>
      <p:sp>
        <p:nvSpPr>
          <p:cNvPr id="303" name="source of value"/>
          <p:cNvSpPr txBox="1"/>
          <p:nvPr/>
        </p:nvSpPr>
        <p:spPr>
          <a:xfrm>
            <a:off x="546100" y="4191000"/>
            <a:ext cx="6718300" cy="838200"/>
          </a:xfrm>
          <a:prstGeom prst="rect">
            <a:avLst/>
          </a:prstGeom>
          <a:noFill/>
        </p:spPr>
        <p:txBody>
          <a:bodyPr wrap="square" lIns="0" tIns="0" rIns="0" bIns="0" anchor="t">
            <a:noAutofit/>
          </a:bodyPr>
          <a:lstStyle/>
          <a:p>
            <a:r>
              <a:rPr lang="en-US" sz="1800" b="1" dirty="0">
                <a:solidFill>
                  <a:srgbClr val="1F2933"/>
                </a:solidFill>
              </a:rPr>
              <a:t>The $417M comes from reviewing risky loans, </a:t>
            </a:r>
            <a:r>
              <a:rPr lang="en-US" sz="1800" dirty="0">
                <a:solidFill>
                  <a:srgbClr val="1F2933"/>
                </a:solidFill>
              </a:rPr>
              <a:t>with review counted as a decline; </a:t>
            </a:r>
            <a:r>
              <a:rPr lang="en-US" sz="1800" b="1" dirty="0">
                <a:solidFill>
                  <a:srgbClr val="1F2933"/>
                </a:solidFill>
              </a:rPr>
              <a:t>about $170–$205M of it comes from our own data.</a:t>
            </a:r>
          </a:p>
        </p:txBody>
      </p:sp>
      <p:sp>
        <p:nvSpPr>
          <p:cNvPr id="900" name="Rubric label"/>
          <p:cNvSpPr txBox="1"/>
          <p:nvPr/>
        </p:nvSpPr>
        <p:spPr>
          <a:xfrm>
            <a:off x="548640" y="137160"/>
            <a:ext cx="11064240" cy="259080"/>
          </a:xfrm>
          <a:prstGeom prst="rect">
            <a:avLst/>
          </a:prstGeom>
          <a:noFill/>
        </p:spPr>
        <p:txBody>
          <a:bodyPr wrap="square" lIns="0" tIns="0" rIns="0" bIns="0" rtlCol="0" anchor="b"/>
          <a:lstStyle/>
          <a:p>
            <a:pPr marL="0" indent="0">
              <a:buNone/>
            </a:pPr>
            <a:r>
              <a:rPr lang="en-US" sz="1400" b="1" spc="50" dirty="0">
                <a:solidFill>
                  <a:schemeClr val="accent1"/>
                </a:solidFill>
              </a:rPr>
              <a:t>BUSINESS IMPACT &amp; IMPLEMENTATION</a:t>
            </a:r>
          </a:p>
        </p:txBody>
      </p:sp>
    </p:spTree>
    <p:extLst>
      <p:ext uri="{BB962C8B-B14F-4D97-AF65-F5344CB8AC3E}">
        <p14:creationId xmlns:p14="http://schemas.microsoft.com/office/powerpoint/2010/main" val="1907270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 90-day shadow pilot tests growth before we commit</a:t>
            </a:r>
            <a:endParaRPr lang="en-US" sz="3200" dirty="0"/>
          </a:p>
        </p:txBody>
      </p:sp>
      <p:sp>
        <p:nvSpPr>
          <p:cNvPr id="700" name="Option card"/>
          <p:cNvSpPr/>
          <p:nvPr/>
        </p:nvSpPr>
        <p:spPr>
          <a:xfrm>
            <a:off x="546100" y="1320800"/>
            <a:ext cx="3568700" cy="3606800"/>
          </a:xfrm>
          <a:prstGeom prst="roundRect">
            <a:avLst>
              <a:gd name="adj" fmla="val 2564"/>
            </a:avLst>
          </a:prstGeom>
          <a:solidFill>
            <a:schemeClr val="bg2"/>
          </a:solidFill>
          <a:ln>
            <a:noFill/>
          </a:ln>
        </p:spPr>
        <p:txBody>
          <a:bodyPr/>
          <a:lstStyle/>
          <a:p>
            <a:endParaRPr lang="en-US"/>
          </a:p>
        </p:txBody>
      </p:sp>
      <p:sp>
        <p:nvSpPr>
          <p:cNvPr id="701" name="Option text 702"/>
          <p:cNvSpPr txBox="1"/>
          <p:nvPr/>
        </p:nvSpPr>
        <p:spPr>
          <a:xfrm>
            <a:off x="749300" y="1498600"/>
            <a:ext cx="3162300" cy="355600"/>
          </a:xfrm>
          <a:prstGeom prst="rect">
            <a:avLst/>
          </a:prstGeom>
          <a:noFill/>
        </p:spPr>
        <p:txBody>
          <a:bodyPr wrap="square" lIns="0" tIns="0" rIns="0" bIns="0" rtlCol="0" anchor="b"/>
          <a:lstStyle/>
          <a:p>
            <a:pPr marL="0" indent="0">
              <a:buNone/>
            </a:pPr>
            <a:r>
              <a:rPr lang="en-US" sz="2000" b="1" dirty="0">
                <a:solidFill>
                  <a:schemeClr val="tx2"/>
                </a:solidFill>
              </a:rPr>
              <a:t>Do nothing</a:t>
            </a:r>
          </a:p>
        </p:txBody>
      </p:sp>
      <p:sp>
        <p:nvSpPr>
          <p:cNvPr id="702" name="Option text 703"/>
          <p:cNvSpPr txBox="1"/>
          <p:nvPr/>
        </p:nvSpPr>
        <p:spPr>
          <a:xfrm>
            <a:off x="749300" y="1879600"/>
            <a:ext cx="3162300" cy="254000"/>
          </a:xfrm>
          <a:prstGeom prst="rect">
            <a:avLst/>
          </a:prstGeom>
          <a:noFill/>
        </p:spPr>
        <p:txBody>
          <a:bodyPr wrap="square" lIns="0" tIns="0" rIns="0" bIns="0" rtlCol="0" anchor="t"/>
          <a:lstStyle/>
          <a:p>
            <a:pPr marL="0" indent="0">
              <a:buNone/>
            </a:pPr>
            <a:r>
              <a:rPr lang="en-US" sz="1400" b="1" dirty="0">
                <a:solidFill>
                  <a:srgbClr val="4F5965"/>
                </a:solidFill>
              </a:rPr>
              <a:t>Keep today’s process</a:t>
            </a:r>
          </a:p>
        </p:txBody>
      </p:sp>
      <p:cxnSp>
        <p:nvCxnSpPr>
          <p:cNvPr id="703" name="Option divider"/>
          <p:cNvCxnSpPr/>
          <p:nvPr/>
        </p:nvCxnSpPr>
        <p:spPr>
          <a:xfrm>
            <a:off x="749300" y="2235200"/>
            <a:ext cx="3162300" cy="0"/>
          </a:xfrm>
          <a:prstGeom prst="line">
            <a:avLst/>
          </a:prstGeom>
          <a:ln w="9525">
            <a:solidFill>
              <a:srgbClr val="C8CDD3"/>
            </a:solidFill>
          </a:ln>
        </p:spPr>
      </p:cxnSp>
      <p:sp>
        <p:nvSpPr>
          <p:cNvPr id="704" name="Option text 705"/>
          <p:cNvSpPr txBox="1"/>
          <p:nvPr/>
        </p:nvSpPr>
        <p:spPr>
          <a:xfrm>
            <a:off x="749300" y="2336800"/>
            <a:ext cx="3162300" cy="228600"/>
          </a:xfrm>
          <a:prstGeom prst="rect">
            <a:avLst/>
          </a:prstGeom>
          <a:noFill/>
        </p:spPr>
        <p:txBody>
          <a:bodyPr wrap="square" lIns="0" tIns="0" rIns="0" bIns="0" rtlCol="0" anchor="t"/>
          <a:lstStyle/>
          <a:p>
            <a:pPr marL="0" indent="0">
              <a:buNone/>
            </a:pPr>
            <a:r>
              <a:rPr lang="en-US" sz="1400" b="1" dirty="0">
                <a:solidFill>
                  <a:srgbClr val="4F5965"/>
                </a:solidFill>
              </a:rPr>
              <a:t>VALUE</a:t>
            </a:r>
          </a:p>
        </p:txBody>
      </p:sp>
      <p:sp>
        <p:nvSpPr>
          <p:cNvPr id="705" name="Option text 706"/>
          <p:cNvSpPr txBox="1"/>
          <p:nvPr/>
        </p:nvSpPr>
        <p:spPr>
          <a:xfrm>
            <a:off x="749300" y="2590800"/>
            <a:ext cx="3162300" cy="558800"/>
          </a:xfrm>
          <a:prstGeom prst="rect">
            <a:avLst/>
          </a:prstGeom>
          <a:noFill/>
        </p:spPr>
        <p:txBody>
          <a:bodyPr wrap="square" lIns="0" tIns="0" rIns="0" bIns="0" rtlCol="0" anchor="t"/>
          <a:lstStyle/>
          <a:p>
            <a:pPr marL="0" indent="0">
              <a:buNone/>
            </a:pPr>
            <a:r>
              <a:rPr lang="en-US" sz="1600" b="1" dirty="0">
                <a:solidFill>
                  <a:srgbClr val="C0392B"/>
                </a:solidFill>
              </a:rPr>
              <a:t>Forgoes ≈$417M</a:t>
            </a:r>
            <a:r>
              <a:rPr lang="en-US" sz="1600" dirty="0">
                <a:solidFill>
                  <a:schemeClr val="tx1"/>
                </a:solidFill>
              </a:rPr>
              <a:t> per 100,000 applications</a:t>
            </a:r>
          </a:p>
        </p:txBody>
      </p:sp>
      <p:sp>
        <p:nvSpPr>
          <p:cNvPr id="706" name="Option text 707"/>
          <p:cNvSpPr txBox="1"/>
          <p:nvPr/>
        </p:nvSpPr>
        <p:spPr>
          <a:xfrm>
            <a:off x="749300" y="3149600"/>
            <a:ext cx="3162300" cy="228600"/>
          </a:xfrm>
          <a:prstGeom prst="rect">
            <a:avLst/>
          </a:prstGeom>
          <a:noFill/>
        </p:spPr>
        <p:txBody>
          <a:bodyPr wrap="square" lIns="0" tIns="0" rIns="0" bIns="0" rtlCol="0" anchor="t"/>
          <a:lstStyle/>
          <a:p>
            <a:pPr marL="0" indent="0">
              <a:buNone/>
            </a:pPr>
            <a:r>
              <a:rPr lang="en-US" sz="1400" b="1" dirty="0">
                <a:solidFill>
                  <a:srgbClr val="4F5965"/>
                </a:solidFill>
              </a:rPr>
              <a:t>CUSTOMER IMPACT</a:t>
            </a:r>
          </a:p>
        </p:txBody>
      </p:sp>
      <p:sp>
        <p:nvSpPr>
          <p:cNvPr id="707" name="Option text 708"/>
          <p:cNvSpPr txBox="1"/>
          <p:nvPr/>
        </p:nvSpPr>
        <p:spPr>
          <a:xfrm>
            <a:off x="749300" y="3403600"/>
            <a:ext cx="3162300" cy="558800"/>
          </a:xfrm>
          <a:prstGeom prst="rect">
            <a:avLst/>
          </a:prstGeom>
          <a:noFill/>
        </p:spPr>
        <p:txBody>
          <a:bodyPr wrap="square" lIns="0" tIns="0" rIns="0" bIns="0" rtlCol="0" anchor="t"/>
          <a:lstStyle/>
          <a:p>
            <a:pPr marL="0" indent="0">
              <a:buNone/>
            </a:pPr>
            <a:r>
              <a:rPr lang="en-US" sz="1600" dirty="0">
                <a:solidFill>
                  <a:schemeClr val="tx1"/>
                </a:solidFill>
              </a:rPr>
              <a:t>No change; risky applicants are still approved</a:t>
            </a:r>
          </a:p>
        </p:txBody>
      </p:sp>
      <p:sp>
        <p:nvSpPr>
          <p:cNvPr id="708" name="Option text 709"/>
          <p:cNvSpPr txBox="1"/>
          <p:nvPr/>
        </p:nvSpPr>
        <p:spPr>
          <a:xfrm>
            <a:off x="749300" y="3962400"/>
            <a:ext cx="3162300" cy="228600"/>
          </a:xfrm>
          <a:prstGeom prst="rect">
            <a:avLst/>
          </a:prstGeom>
          <a:noFill/>
        </p:spPr>
        <p:txBody>
          <a:bodyPr wrap="square" lIns="0" tIns="0" rIns="0" bIns="0" rtlCol="0" anchor="t"/>
          <a:lstStyle/>
          <a:p>
            <a:pPr marL="0" indent="0">
              <a:buNone/>
            </a:pPr>
            <a:r>
              <a:rPr lang="en-US" sz="1400" b="1" dirty="0">
                <a:solidFill>
                  <a:srgbClr val="4F5965"/>
                </a:solidFill>
              </a:rPr>
              <a:t>OPEN RISK</a:t>
            </a:r>
          </a:p>
        </p:txBody>
      </p:sp>
      <p:sp>
        <p:nvSpPr>
          <p:cNvPr id="709" name="Option text 710"/>
          <p:cNvSpPr txBox="1"/>
          <p:nvPr/>
        </p:nvSpPr>
        <p:spPr>
          <a:xfrm>
            <a:off x="749300" y="4216400"/>
            <a:ext cx="3162300" cy="558800"/>
          </a:xfrm>
          <a:prstGeom prst="rect">
            <a:avLst/>
          </a:prstGeom>
          <a:noFill/>
        </p:spPr>
        <p:txBody>
          <a:bodyPr wrap="square" lIns="0" tIns="0" rIns="0" bIns="0" rtlCol="0" anchor="t"/>
          <a:lstStyle/>
          <a:p>
            <a:pPr marL="0" indent="0">
              <a:buNone/>
            </a:pPr>
            <a:r>
              <a:rPr lang="en-US" sz="1600" dirty="0">
                <a:solidFill>
                  <a:schemeClr val="tx1"/>
                </a:solidFill>
              </a:rPr>
              <a:t>Payment difficulty stays at today’s 8.1%</a:t>
            </a:r>
          </a:p>
        </p:txBody>
      </p:sp>
      <p:sp>
        <p:nvSpPr>
          <p:cNvPr id="710" name="Option card"/>
          <p:cNvSpPr/>
          <p:nvPr/>
        </p:nvSpPr>
        <p:spPr>
          <a:xfrm>
            <a:off x="4292600" y="1320800"/>
            <a:ext cx="3568700" cy="3606800"/>
          </a:xfrm>
          <a:prstGeom prst="roundRect">
            <a:avLst>
              <a:gd name="adj" fmla="val 2564"/>
            </a:avLst>
          </a:prstGeom>
          <a:solidFill>
            <a:schemeClr val="bg2"/>
          </a:solidFill>
          <a:ln w="28575">
            <a:solidFill>
              <a:schemeClr val="accent1"/>
            </a:solidFill>
          </a:ln>
        </p:spPr>
        <p:txBody>
          <a:bodyPr/>
          <a:lstStyle/>
          <a:p>
            <a:endParaRPr lang="en-US"/>
          </a:p>
        </p:txBody>
      </p:sp>
      <p:sp>
        <p:nvSpPr>
          <p:cNvPr id="711" name="Option text 712"/>
          <p:cNvSpPr txBox="1"/>
          <p:nvPr/>
        </p:nvSpPr>
        <p:spPr>
          <a:xfrm>
            <a:off x="4495800" y="1498600"/>
            <a:ext cx="3162300" cy="355600"/>
          </a:xfrm>
          <a:prstGeom prst="rect">
            <a:avLst/>
          </a:prstGeom>
          <a:noFill/>
        </p:spPr>
        <p:txBody>
          <a:bodyPr wrap="square" lIns="0" tIns="0" rIns="0" bIns="0" rtlCol="0" anchor="b"/>
          <a:lstStyle/>
          <a:p>
            <a:pPr marL="0" indent="0">
              <a:buNone/>
            </a:pPr>
            <a:r>
              <a:rPr lang="en-US" sz="2000" b="1" dirty="0">
                <a:solidFill>
                  <a:schemeClr val="tx2"/>
                </a:solidFill>
              </a:rPr>
              <a:t>90-day shadow pilot</a:t>
            </a:r>
          </a:p>
        </p:txBody>
      </p:sp>
      <p:sp>
        <p:nvSpPr>
          <p:cNvPr id="712" name="Option text 713"/>
          <p:cNvSpPr txBox="1"/>
          <p:nvPr/>
        </p:nvSpPr>
        <p:spPr>
          <a:xfrm>
            <a:off x="4495800" y="1879600"/>
            <a:ext cx="3162300" cy="254000"/>
          </a:xfrm>
          <a:prstGeom prst="rect">
            <a:avLst/>
          </a:prstGeom>
          <a:noFill/>
        </p:spPr>
        <p:txBody>
          <a:bodyPr wrap="square" lIns="0" tIns="0" rIns="0" bIns="0" rtlCol="0" anchor="t"/>
          <a:lstStyle/>
          <a:p>
            <a:pPr marL="0" indent="0">
              <a:buNone/>
            </a:pPr>
            <a:r>
              <a:rPr lang="en-US" sz="1400" b="1" dirty="0">
                <a:solidFill>
                  <a:schemeClr val="accent1"/>
                </a:solidFill>
              </a:rPr>
              <a:t>Recommended</a:t>
            </a:r>
          </a:p>
        </p:txBody>
      </p:sp>
      <p:cxnSp>
        <p:nvCxnSpPr>
          <p:cNvPr id="713" name="Option divider"/>
          <p:cNvCxnSpPr/>
          <p:nvPr/>
        </p:nvCxnSpPr>
        <p:spPr>
          <a:xfrm>
            <a:off x="4495800" y="2235200"/>
            <a:ext cx="3162300" cy="0"/>
          </a:xfrm>
          <a:prstGeom prst="line">
            <a:avLst/>
          </a:prstGeom>
          <a:ln w="9525">
            <a:solidFill>
              <a:srgbClr val="C8CDD3"/>
            </a:solidFill>
          </a:ln>
        </p:spPr>
      </p:cxnSp>
      <p:sp>
        <p:nvSpPr>
          <p:cNvPr id="714" name="Option text 715"/>
          <p:cNvSpPr txBox="1"/>
          <p:nvPr/>
        </p:nvSpPr>
        <p:spPr>
          <a:xfrm>
            <a:off x="4495800" y="2336800"/>
            <a:ext cx="3162300" cy="228600"/>
          </a:xfrm>
          <a:prstGeom prst="rect">
            <a:avLst/>
          </a:prstGeom>
          <a:noFill/>
        </p:spPr>
        <p:txBody>
          <a:bodyPr wrap="square" lIns="0" tIns="0" rIns="0" bIns="0" rtlCol="0" anchor="t"/>
          <a:lstStyle/>
          <a:p>
            <a:pPr marL="0" indent="0">
              <a:buNone/>
            </a:pPr>
            <a:r>
              <a:rPr lang="en-US" sz="1400" b="1" dirty="0">
                <a:solidFill>
                  <a:srgbClr val="4F5965"/>
                </a:solidFill>
              </a:rPr>
              <a:t>VALUE</a:t>
            </a:r>
          </a:p>
        </p:txBody>
      </p:sp>
      <p:sp>
        <p:nvSpPr>
          <p:cNvPr id="715" name="Option text 716"/>
          <p:cNvSpPr txBox="1"/>
          <p:nvPr/>
        </p:nvSpPr>
        <p:spPr>
          <a:xfrm>
            <a:off x="4495800" y="2590800"/>
            <a:ext cx="3162300" cy="558800"/>
          </a:xfrm>
          <a:prstGeom prst="rect">
            <a:avLst/>
          </a:prstGeom>
          <a:noFill/>
        </p:spPr>
        <p:txBody>
          <a:bodyPr wrap="square" lIns="0" tIns="0" rIns="0" bIns="0" rtlCol="0" anchor="t"/>
          <a:lstStyle/>
          <a:p>
            <a:pPr marL="0" indent="0">
              <a:buNone/>
            </a:pPr>
            <a:r>
              <a:rPr lang="en-US" sz="1600" dirty="0">
                <a:solidFill>
                  <a:schemeClr val="tx1"/>
                </a:solidFill>
              </a:rPr>
              <a:t>Measures how many good applicants we can safely add</a:t>
            </a:r>
          </a:p>
        </p:txBody>
      </p:sp>
      <p:sp>
        <p:nvSpPr>
          <p:cNvPr id="716" name="Option text 717"/>
          <p:cNvSpPr txBox="1"/>
          <p:nvPr/>
        </p:nvSpPr>
        <p:spPr>
          <a:xfrm>
            <a:off x="4495800" y="3149600"/>
            <a:ext cx="3162300" cy="228600"/>
          </a:xfrm>
          <a:prstGeom prst="rect">
            <a:avLst/>
          </a:prstGeom>
          <a:noFill/>
        </p:spPr>
        <p:txBody>
          <a:bodyPr wrap="square" lIns="0" tIns="0" rIns="0" bIns="0" rtlCol="0" anchor="t"/>
          <a:lstStyle/>
          <a:p>
            <a:pPr marL="0" indent="0">
              <a:buNone/>
            </a:pPr>
            <a:r>
              <a:rPr lang="en-US" sz="1400" b="1" dirty="0">
                <a:solidFill>
                  <a:srgbClr val="4F5965"/>
                </a:solidFill>
              </a:rPr>
              <a:t>CUSTOMER IMPACT</a:t>
            </a:r>
          </a:p>
        </p:txBody>
      </p:sp>
      <p:sp>
        <p:nvSpPr>
          <p:cNvPr id="717" name="Option text 718"/>
          <p:cNvSpPr txBox="1"/>
          <p:nvPr/>
        </p:nvSpPr>
        <p:spPr>
          <a:xfrm>
            <a:off x="4495800" y="3403600"/>
            <a:ext cx="3162300" cy="558800"/>
          </a:xfrm>
          <a:prstGeom prst="rect">
            <a:avLst/>
          </a:prstGeom>
          <a:noFill/>
        </p:spPr>
        <p:txBody>
          <a:bodyPr wrap="square" lIns="0" tIns="0" rIns="0" bIns="0" rtlCol="0" anchor="t"/>
          <a:lstStyle/>
          <a:p>
            <a:pPr marL="0" indent="0">
              <a:buNone/>
            </a:pPr>
            <a:r>
              <a:rPr lang="en-US" sz="1600" b="1" dirty="0">
                <a:solidFill>
                  <a:srgbClr val="2E7D32"/>
                </a:solidFill>
              </a:rPr>
              <a:t>None: </a:t>
            </a:r>
            <a:r>
              <a:rPr lang="en-US" sz="1600" dirty="0">
                <a:solidFill>
                  <a:schemeClr val="tx1"/>
                </a:solidFill>
              </a:rPr>
              <a:t>every decision stays as today</a:t>
            </a:r>
          </a:p>
        </p:txBody>
      </p:sp>
      <p:sp>
        <p:nvSpPr>
          <p:cNvPr id="718" name="Option text 719"/>
          <p:cNvSpPr txBox="1"/>
          <p:nvPr/>
        </p:nvSpPr>
        <p:spPr>
          <a:xfrm>
            <a:off x="4495800" y="3962400"/>
            <a:ext cx="3162300" cy="228600"/>
          </a:xfrm>
          <a:prstGeom prst="rect">
            <a:avLst/>
          </a:prstGeom>
          <a:noFill/>
        </p:spPr>
        <p:txBody>
          <a:bodyPr wrap="square" lIns="0" tIns="0" rIns="0" bIns="0" rtlCol="0" anchor="t"/>
          <a:lstStyle/>
          <a:p>
            <a:pPr marL="0" indent="0">
              <a:buNone/>
            </a:pPr>
            <a:r>
              <a:rPr lang="en-US" sz="1400" b="1" dirty="0">
                <a:solidFill>
                  <a:srgbClr val="4F5965"/>
                </a:solidFill>
              </a:rPr>
              <a:t>OPEN RISK</a:t>
            </a:r>
          </a:p>
        </p:txBody>
      </p:sp>
      <p:sp>
        <p:nvSpPr>
          <p:cNvPr id="719" name="Option text 720"/>
          <p:cNvSpPr txBox="1"/>
          <p:nvPr/>
        </p:nvSpPr>
        <p:spPr>
          <a:xfrm>
            <a:off x="4495800" y="4216400"/>
            <a:ext cx="3162300" cy="558800"/>
          </a:xfrm>
          <a:prstGeom prst="rect">
            <a:avLst/>
          </a:prstGeom>
          <a:noFill/>
        </p:spPr>
        <p:txBody>
          <a:bodyPr wrap="square" lIns="0" tIns="0" rIns="0" bIns="0" rtlCol="0" anchor="t"/>
          <a:lstStyle/>
          <a:p>
            <a:pPr marL="0" indent="0">
              <a:buNone/>
            </a:pPr>
            <a:r>
              <a:rPr lang="en-US" sz="1600" b="1" dirty="0">
                <a:solidFill>
                  <a:srgbClr val="2E7D32"/>
                </a:solidFill>
              </a:rPr>
              <a:t>Low: </a:t>
            </a:r>
            <a:r>
              <a:rPr lang="en-US" sz="1600" dirty="0">
                <a:solidFill>
                  <a:schemeClr val="tx1"/>
                </a:solidFill>
              </a:rPr>
              <a:t>tests both open items first</a:t>
            </a:r>
          </a:p>
        </p:txBody>
      </p:sp>
      <p:sp>
        <p:nvSpPr>
          <p:cNvPr id="720" name="Option card"/>
          <p:cNvSpPr/>
          <p:nvPr/>
        </p:nvSpPr>
        <p:spPr>
          <a:xfrm>
            <a:off x="8051800" y="1320800"/>
            <a:ext cx="3568700" cy="3606800"/>
          </a:xfrm>
          <a:prstGeom prst="roundRect">
            <a:avLst>
              <a:gd name="adj" fmla="val 2564"/>
            </a:avLst>
          </a:prstGeom>
          <a:solidFill>
            <a:schemeClr val="bg2"/>
          </a:solidFill>
          <a:ln>
            <a:noFill/>
          </a:ln>
        </p:spPr>
        <p:txBody>
          <a:bodyPr/>
          <a:lstStyle/>
          <a:p>
            <a:endParaRPr lang="en-US"/>
          </a:p>
        </p:txBody>
      </p:sp>
      <p:sp>
        <p:nvSpPr>
          <p:cNvPr id="721" name="Option text 722"/>
          <p:cNvSpPr txBox="1"/>
          <p:nvPr/>
        </p:nvSpPr>
        <p:spPr>
          <a:xfrm>
            <a:off x="8255000" y="1498600"/>
            <a:ext cx="3162300" cy="355600"/>
          </a:xfrm>
          <a:prstGeom prst="rect">
            <a:avLst/>
          </a:prstGeom>
          <a:noFill/>
        </p:spPr>
        <p:txBody>
          <a:bodyPr wrap="square" lIns="0" tIns="0" rIns="0" bIns="0" rtlCol="0" anchor="b"/>
          <a:lstStyle/>
          <a:p>
            <a:pPr marL="0" indent="0">
              <a:buNone/>
            </a:pPr>
            <a:r>
              <a:rPr lang="en-US" sz="2000" b="1" dirty="0">
                <a:solidFill>
                  <a:schemeClr val="tx2"/>
                </a:solidFill>
              </a:rPr>
              <a:t>Full rollout now</a:t>
            </a:r>
          </a:p>
        </p:txBody>
      </p:sp>
      <p:sp>
        <p:nvSpPr>
          <p:cNvPr id="722" name="Option text 723"/>
          <p:cNvSpPr txBox="1"/>
          <p:nvPr/>
        </p:nvSpPr>
        <p:spPr>
          <a:xfrm>
            <a:off x="8255000" y="1879600"/>
            <a:ext cx="3162300" cy="254000"/>
          </a:xfrm>
          <a:prstGeom prst="rect">
            <a:avLst/>
          </a:prstGeom>
          <a:noFill/>
        </p:spPr>
        <p:txBody>
          <a:bodyPr wrap="square" lIns="0" tIns="0" rIns="0" bIns="0" rtlCol="0" anchor="t"/>
          <a:lstStyle/>
          <a:p>
            <a:pPr marL="0" indent="0">
              <a:buNone/>
            </a:pPr>
            <a:r>
              <a:rPr lang="en-US" sz="1400" b="1" dirty="0">
                <a:solidFill>
                  <a:srgbClr val="4F5965"/>
                </a:solidFill>
              </a:rPr>
              <a:t>Skip the pilot</a:t>
            </a:r>
          </a:p>
        </p:txBody>
      </p:sp>
      <p:cxnSp>
        <p:nvCxnSpPr>
          <p:cNvPr id="723" name="Option divider"/>
          <p:cNvCxnSpPr/>
          <p:nvPr/>
        </p:nvCxnSpPr>
        <p:spPr>
          <a:xfrm>
            <a:off x="8255000" y="2235200"/>
            <a:ext cx="3162300" cy="0"/>
          </a:xfrm>
          <a:prstGeom prst="line">
            <a:avLst/>
          </a:prstGeom>
          <a:ln w="9525">
            <a:solidFill>
              <a:srgbClr val="C8CDD3"/>
            </a:solidFill>
          </a:ln>
        </p:spPr>
      </p:cxnSp>
      <p:sp>
        <p:nvSpPr>
          <p:cNvPr id="724" name="Option text 725"/>
          <p:cNvSpPr txBox="1"/>
          <p:nvPr/>
        </p:nvSpPr>
        <p:spPr>
          <a:xfrm>
            <a:off x="8255000" y="2336800"/>
            <a:ext cx="3162300" cy="228600"/>
          </a:xfrm>
          <a:prstGeom prst="rect">
            <a:avLst/>
          </a:prstGeom>
          <a:noFill/>
        </p:spPr>
        <p:txBody>
          <a:bodyPr wrap="square" lIns="0" tIns="0" rIns="0" bIns="0" rtlCol="0" anchor="t"/>
          <a:lstStyle/>
          <a:p>
            <a:pPr marL="0" indent="0">
              <a:buNone/>
            </a:pPr>
            <a:r>
              <a:rPr lang="en-US" sz="1400" b="1" dirty="0">
                <a:solidFill>
                  <a:srgbClr val="4F5965"/>
                </a:solidFill>
              </a:rPr>
              <a:t>VALUE</a:t>
            </a:r>
          </a:p>
        </p:txBody>
      </p:sp>
      <p:sp>
        <p:nvSpPr>
          <p:cNvPr id="725" name="Option text 726"/>
          <p:cNvSpPr txBox="1"/>
          <p:nvPr/>
        </p:nvSpPr>
        <p:spPr>
          <a:xfrm>
            <a:off x="8255000" y="2590800"/>
            <a:ext cx="3162300" cy="558800"/>
          </a:xfrm>
          <a:prstGeom prst="rect">
            <a:avLst/>
          </a:prstGeom>
          <a:noFill/>
        </p:spPr>
        <p:txBody>
          <a:bodyPr wrap="square" lIns="0" tIns="0" rIns="0" bIns="0" rtlCol="0" anchor="t"/>
          <a:lstStyle/>
          <a:p>
            <a:pPr marL="0" indent="0">
              <a:buNone/>
            </a:pPr>
            <a:r>
              <a:rPr lang="en-US" sz="1600" dirty="0">
                <a:solidFill>
                  <a:schemeClr val="tx1"/>
                </a:solidFill>
              </a:rPr>
              <a:t>Captures up to ≈$417M per 100,000 applications</a:t>
            </a:r>
          </a:p>
        </p:txBody>
      </p:sp>
      <p:sp>
        <p:nvSpPr>
          <p:cNvPr id="726" name="Option text 727"/>
          <p:cNvSpPr txBox="1"/>
          <p:nvPr/>
        </p:nvSpPr>
        <p:spPr>
          <a:xfrm>
            <a:off x="8255000" y="3149600"/>
            <a:ext cx="3162300" cy="228600"/>
          </a:xfrm>
          <a:prstGeom prst="rect">
            <a:avLst/>
          </a:prstGeom>
          <a:noFill/>
        </p:spPr>
        <p:txBody>
          <a:bodyPr wrap="square" lIns="0" tIns="0" rIns="0" bIns="0" rtlCol="0" anchor="t"/>
          <a:lstStyle/>
          <a:p>
            <a:pPr marL="0" indent="0">
              <a:buNone/>
            </a:pPr>
            <a:r>
              <a:rPr lang="en-US" sz="1400" b="1" dirty="0">
                <a:solidFill>
                  <a:srgbClr val="4F5965"/>
                </a:solidFill>
              </a:rPr>
              <a:t>CUSTOMER IMPACT</a:t>
            </a:r>
          </a:p>
        </p:txBody>
      </p:sp>
      <p:sp>
        <p:nvSpPr>
          <p:cNvPr id="727" name="Option text 728"/>
          <p:cNvSpPr txBox="1"/>
          <p:nvPr/>
        </p:nvSpPr>
        <p:spPr>
          <a:xfrm>
            <a:off x="8255000" y="3403600"/>
            <a:ext cx="3162300" cy="558800"/>
          </a:xfrm>
          <a:prstGeom prst="rect">
            <a:avLst/>
          </a:prstGeom>
          <a:noFill/>
        </p:spPr>
        <p:txBody>
          <a:bodyPr wrap="square" lIns="0" tIns="0" rIns="0" bIns="0" rtlCol="0" anchor="t"/>
          <a:lstStyle/>
          <a:p>
            <a:pPr marL="0" indent="0">
              <a:buNone/>
            </a:pPr>
            <a:r>
              <a:rPr lang="en-US" sz="1600" dirty="0">
                <a:solidFill>
                  <a:schemeClr val="tx1"/>
                </a:solidFill>
              </a:rPr>
              <a:t>Some good applicants turned away from day one</a:t>
            </a:r>
          </a:p>
        </p:txBody>
      </p:sp>
      <p:sp>
        <p:nvSpPr>
          <p:cNvPr id="728" name="Option text 729"/>
          <p:cNvSpPr txBox="1"/>
          <p:nvPr/>
        </p:nvSpPr>
        <p:spPr>
          <a:xfrm>
            <a:off x="8255000" y="3962400"/>
            <a:ext cx="3162300" cy="228600"/>
          </a:xfrm>
          <a:prstGeom prst="rect">
            <a:avLst/>
          </a:prstGeom>
          <a:noFill/>
        </p:spPr>
        <p:txBody>
          <a:bodyPr wrap="square" lIns="0" tIns="0" rIns="0" bIns="0" rtlCol="0" anchor="t"/>
          <a:lstStyle/>
          <a:p>
            <a:pPr marL="0" indent="0">
              <a:buNone/>
            </a:pPr>
            <a:r>
              <a:rPr lang="en-US" sz="1400" b="1" dirty="0">
                <a:solidFill>
                  <a:srgbClr val="4F5965"/>
                </a:solidFill>
              </a:rPr>
              <a:t>OPEN RISK</a:t>
            </a:r>
          </a:p>
        </p:txBody>
      </p:sp>
      <p:sp>
        <p:nvSpPr>
          <p:cNvPr id="729" name="Option text 730"/>
          <p:cNvSpPr txBox="1"/>
          <p:nvPr/>
        </p:nvSpPr>
        <p:spPr>
          <a:xfrm>
            <a:off x="8255000" y="4216400"/>
            <a:ext cx="3162300" cy="558800"/>
          </a:xfrm>
          <a:prstGeom prst="rect">
            <a:avLst/>
          </a:prstGeom>
          <a:noFill/>
        </p:spPr>
        <p:txBody>
          <a:bodyPr wrap="square" lIns="0" tIns="0" rIns="0" bIns="0" rtlCol="0" anchor="t"/>
          <a:lstStyle/>
          <a:p>
            <a:pPr marL="0" indent="0">
              <a:buNone/>
            </a:pPr>
            <a:r>
              <a:rPr lang="en-US" sz="1600" dirty="0">
                <a:solidFill>
                  <a:schemeClr val="tx1"/>
                </a:solidFill>
              </a:rPr>
              <a:t>External-score source and under-25 accuracy untested</a:t>
            </a:r>
          </a:p>
        </p:txBody>
      </p:sp>
      <p:sp>
        <p:nvSpPr>
          <p:cNvPr id="730" name="Rubric label"/>
          <p:cNvSpPr txBox="1"/>
          <p:nvPr/>
        </p:nvSpPr>
        <p:spPr>
          <a:xfrm>
            <a:off x="548640" y="137160"/>
            <a:ext cx="11064240" cy="259080"/>
          </a:xfrm>
          <a:prstGeom prst="rect">
            <a:avLst/>
          </a:prstGeom>
          <a:noFill/>
        </p:spPr>
        <p:txBody>
          <a:bodyPr wrap="square" lIns="0" tIns="0" rIns="0" bIns="0" rtlCol="0" anchor="b"/>
          <a:lstStyle/>
          <a:p>
            <a:pPr marL="0" indent="0">
              <a:buNone/>
            </a:pPr>
            <a:r>
              <a:rPr lang="en-US" sz="1400" b="1" spc="50" dirty="0">
                <a:solidFill>
                  <a:schemeClr val="accent1"/>
                </a:solidFill>
              </a:rPr>
              <a:t>BUSINESS IMPACT &amp; IMPLEMENTATION</a:t>
            </a:r>
          </a:p>
        </p:txBody>
      </p:sp>
      <p:sp>
        <p:nvSpPr>
          <p:cNvPr id="740" name="Monitoring line"/>
          <p:cNvSpPr txBox="1"/>
          <p:nvPr/>
        </p:nvSpPr>
        <p:spPr>
          <a:xfrm>
            <a:off x="548640" y="5029200"/>
            <a:ext cx="11064240" cy="279400"/>
          </a:xfrm>
          <a:prstGeom prst="rect">
            <a:avLst/>
          </a:prstGeom>
          <a:noFill/>
        </p:spPr>
        <p:txBody>
          <a:bodyPr wrap="square" lIns="0" tIns="0" rIns="0" bIns="0" rtlCol="0" anchor="ctr"/>
          <a:lstStyle/>
          <a:p>
            <a:pPr marL="0" indent="0">
              <a:buNone/>
            </a:pPr>
            <a:r>
              <a:rPr lang="en-US" sz="1600" b="1" dirty="0">
                <a:solidFill>
                  <a:schemeClr val="tx2"/>
                </a:solidFill>
              </a:rPr>
              <a:t>Monitoring: </a:t>
            </a:r>
            <a:r>
              <a:rPr lang="en-US" sz="1600" dirty="0">
                <a:solidFill>
                  <a:schemeClr val="tx1"/>
                </a:solidFill>
              </a:rPr>
              <a:t>monthly accuracy and calibration · quarterly fairness by gender, age band and product</a:t>
            </a:r>
          </a:p>
        </p:txBody>
      </p:sp>
      <p:sp>
        <p:nvSpPr>
          <p:cNvPr id="18" name="decision banner"/>
          <p:cNvSpPr/>
          <p:nvPr/>
        </p:nvSpPr>
        <p:spPr>
          <a:xfrm>
            <a:off x="548640" y="5435600"/>
            <a:ext cx="11064240" cy="876300"/>
          </a:xfrm>
          <a:prstGeom prst="roundRect">
            <a:avLst>
              <a:gd name="adj" fmla="val 9524"/>
            </a:avLst>
          </a:prstGeom>
          <a:solidFill>
            <a:schemeClr val="tx2"/>
          </a:solidFill>
          <a:ln/>
        </p:spPr>
        <p:txBody>
          <a:bodyPr/>
          <a:lstStyle/>
          <a:p>
            <a:endParaRPr lang="en-US"/>
          </a:p>
        </p:txBody>
      </p:sp>
      <p:sp>
        <p:nvSpPr>
          <p:cNvPr id="19" name="decision circle"/>
          <p:cNvSpPr/>
          <p:nvPr/>
        </p:nvSpPr>
        <p:spPr>
          <a:xfrm>
            <a:off x="777240" y="5530850"/>
            <a:ext cx="685800" cy="685800"/>
          </a:xfrm>
          <a:prstGeom prst="ellipse">
            <a:avLst/>
          </a:prstGeom>
          <a:solidFill>
            <a:schemeClr val="accent3"/>
          </a:solidFill>
          <a:ln/>
        </p:spPr>
        <p:txBody>
          <a:bodyPr/>
          <a:lstStyle/>
          <a:p>
            <a:endParaRPr lang="en-US"/>
          </a:p>
        </p:txBody>
      </p:sp>
      <p:pic>
        <p:nvPicPr>
          <p:cNvPr id="20" name="decision icon" descr="preencoded.png"/>
          <p:cNvPicPr>
            <a:picLocks noChangeAspect="1"/>
          </p:cNvPicPr>
          <p:nvPr/>
        </p:nvPicPr>
        <p:blipFill>
          <a:blip r:embed="rId3"/>
          <a:stretch>
            <a:fillRect/>
          </a:stretch>
        </p:blipFill>
        <p:spPr>
          <a:xfrm>
            <a:off x="948690" y="5702300"/>
            <a:ext cx="342900" cy="342900"/>
          </a:xfrm>
          <a:prstGeom prst="rect">
            <a:avLst/>
          </a:prstGeom>
        </p:spPr>
      </p:pic>
      <p:sp>
        <p:nvSpPr>
          <p:cNvPr id="21" name="Text 15"/>
          <p:cNvSpPr txBox="1"/>
          <p:nvPr/>
        </p:nvSpPr>
        <p:spPr>
          <a:xfrm>
            <a:off x="1691640" y="5435600"/>
            <a:ext cx="9692640" cy="876300"/>
          </a:xfrm>
          <a:prstGeom prst="rect">
            <a:avLst/>
          </a:prstGeom>
          <a:noFill/>
          <a:ln/>
        </p:spPr>
        <p:txBody>
          <a:bodyPr wrap="square" lIns="0" tIns="0" rIns="0" bIns="0" rtlCol="0" anchor="ctr"/>
          <a:lstStyle/>
          <a:p>
            <a:pPr marL="0" indent="0">
              <a:buNone/>
            </a:pPr>
            <a:r>
              <a:rPr lang="en-US" sz="2400" b="1" dirty="0">
                <a:solidFill>
                  <a:srgbClr val="F2C94C"/>
                </a:solidFill>
              </a:rPr>
              <a:t>Decision requested: </a:t>
            </a:r>
            <a:r>
              <a:rPr lang="en-US" sz="2400" b="1" dirty="0">
                <a:solidFill>
                  <a:schemeClr val="bg1"/>
                </a:solidFill>
              </a:rPr>
              <a:t>approve a 90-day shadow-scoring pilot to test how many good applicants we can safely add</a:t>
            </a:r>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3975114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Questions</a:t>
            </a:r>
            <a:endParaRPr lang="en-US" sz="4400" dirty="0"/>
          </a:p>
        </p:txBody>
      </p:sp>
      <p:sp>
        <p:nvSpPr>
          <p:cNvPr id="3" name="Text 0"/>
          <p:cNvSpPr>
            <a:spLocks noGrp="1"/>
          </p:cNvSpPr>
          <p:nvPr>
            <p:ph type="body" idx="101" hasCustomPrompt="1"/>
          </p:nvPr>
        </p:nvSpPr>
        <p:spPr>
          <a:xfrm>
            <a:off x="731520" y="3794760"/>
            <a:ext cx="10698480" cy="1280160"/>
          </a:xfrm>
          <a:prstGeom prst="rect">
            <a:avLst/>
          </a:prstGeom>
          <a:noFill/>
          <a:ln/>
        </p:spPr>
        <p:txBody>
          <a:bodyPr wrap="square" lIns="0" tIns="0" rIns="0" bIns="0" rtlCol="0" anchor="t">
            <a:normAutofit fontScale="92500" lnSpcReduction="10000"/>
          </a:bodyPr>
          <a:lstStyle/>
          <a:p>
            <a:pPr marL="0" indent="0" algn="l">
              <a:spcAft>
                <a:spcPts val="900"/>
              </a:spcAft>
              <a:buNone/>
            </a:pPr>
            <a:r>
              <a:rPr lang="en-US" sz="2200" dirty="0">
                <a:solidFill>
                  <a:srgbClr val="FFFFFF"/>
                </a:solidFill>
              </a:rPr>
              <a:t>Our own data scores applicants the bureaus can’t see, worth about $170–$205M of the $417M a review tier saves per 100,000 applications.</a:t>
            </a:r>
          </a:p>
          <a:p>
            <a:pPr marL="0" indent="0" algn="l">
              <a:buNone/>
            </a:pPr>
            <a:r>
              <a:rPr lang="en-US" sz="2200" b="1" dirty="0">
                <a:solidFill>
                  <a:srgbClr val="F2C94C"/>
                </a:solidFill>
              </a:rPr>
              <a:t>Decision requested: Approve a 90-day shadow-scoring pilot to test how many good applicants we can safely add.</a:t>
            </a:r>
          </a:p>
        </p:txBody>
      </p:sp>
    </p:spTree>
    <p:extLst>
      <p:ext uri="{BB962C8B-B14F-4D97-AF65-F5344CB8AC3E}">
        <p14:creationId xmlns:p14="http://schemas.microsoft.com/office/powerpoint/2010/main" val="4022960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Appendix A: data foundation</a:t>
            </a:r>
            <a:endParaRPr lang="en-US" sz="3200" dirty="0"/>
          </a:p>
        </p:txBody>
      </p:sp>
      <p:sp>
        <p:nvSpPr>
          <p:cNvPr id="3" name="stat 0"/>
          <p:cNvSpPr/>
          <p:nvPr/>
        </p:nvSpPr>
        <p:spPr>
          <a:xfrm>
            <a:off x="548640" y="1371600"/>
            <a:ext cx="3566160" cy="1737360"/>
          </a:xfrm>
          <a:prstGeom prst="roundRect">
            <a:avLst>
              <a:gd name="adj" fmla="val 5263"/>
            </a:avLst>
          </a:prstGeom>
          <a:solidFill>
            <a:schemeClr val="bg2"/>
          </a:solidFill>
          <a:ln/>
        </p:spPr>
        <p:txBody>
          <a:bodyPr/>
          <a:lstStyle/>
          <a:p>
            <a:endParaRPr lang="en-US"/>
          </a:p>
        </p:txBody>
      </p:sp>
      <p:sp>
        <p:nvSpPr>
          <p:cNvPr id="4" name="Text 2"/>
          <p:cNvSpPr txBox="1"/>
          <p:nvPr/>
        </p:nvSpPr>
        <p:spPr>
          <a:xfrm>
            <a:off x="822960" y="1508760"/>
            <a:ext cx="301752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58.5M</a:t>
            </a:r>
            <a:endParaRPr lang="en-US" sz="4000" dirty="0"/>
          </a:p>
        </p:txBody>
      </p:sp>
      <p:sp>
        <p:nvSpPr>
          <p:cNvPr id="5" name="Text 3"/>
          <p:cNvSpPr txBox="1"/>
          <p:nvPr/>
        </p:nvSpPr>
        <p:spPr>
          <a:xfrm>
            <a:off x="822960" y="2377440"/>
            <a:ext cx="3017520" cy="640080"/>
          </a:xfrm>
          <a:prstGeom prst="rect">
            <a:avLst/>
          </a:prstGeom>
          <a:noFill/>
          <a:ln/>
        </p:spPr>
        <p:txBody>
          <a:bodyPr wrap="square" lIns="0" tIns="0" rIns="0" bIns="0" rtlCol="0" anchor="t"/>
          <a:lstStyle/>
          <a:p>
            <a:pPr marL="0" indent="0">
              <a:buNone/>
            </a:pPr>
            <a:r>
              <a:rPr lang="en-US" sz="1800" dirty="0">
                <a:solidFill>
                  <a:schemeClr val="tx1"/>
                </a:solidFill>
              </a:rPr>
              <a:t>raw records across 8 source tables</a:t>
            </a:r>
            <a:endParaRPr lang="en-US" sz="1800" dirty="0"/>
          </a:p>
        </p:txBody>
      </p:sp>
      <p:sp>
        <p:nvSpPr>
          <p:cNvPr id="6" name="stat 1"/>
          <p:cNvSpPr/>
          <p:nvPr/>
        </p:nvSpPr>
        <p:spPr>
          <a:xfrm>
            <a:off x="4297680" y="1371600"/>
            <a:ext cx="3566160" cy="1737360"/>
          </a:xfrm>
          <a:prstGeom prst="roundRect">
            <a:avLst>
              <a:gd name="adj" fmla="val 5263"/>
            </a:avLst>
          </a:prstGeom>
          <a:solidFill>
            <a:schemeClr val="bg2"/>
          </a:solidFill>
          <a:ln/>
        </p:spPr>
        <p:txBody>
          <a:bodyPr/>
          <a:lstStyle/>
          <a:p>
            <a:endParaRPr lang="en-US"/>
          </a:p>
        </p:txBody>
      </p:sp>
      <p:sp>
        <p:nvSpPr>
          <p:cNvPr id="7" name="Text 5"/>
          <p:cNvSpPr txBox="1"/>
          <p:nvPr/>
        </p:nvSpPr>
        <p:spPr>
          <a:xfrm>
            <a:off x="4572000" y="1508760"/>
            <a:ext cx="301752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307,511</a:t>
            </a:r>
            <a:endParaRPr lang="en-US" sz="4000" dirty="0"/>
          </a:p>
        </p:txBody>
      </p:sp>
      <p:sp>
        <p:nvSpPr>
          <p:cNvPr id="8" name="Text 6"/>
          <p:cNvSpPr txBox="1"/>
          <p:nvPr/>
        </p:nvSpPr>
        <p:spPr>
          <a:xfrm>
            <a:off x="4572000" y="2377440"/>
            <a:ext cx="3017520" cy="640080"/>
          </a:xfrm>
          <a:prstGeom prst="rect">
            <a:avLst/>
          </a:prstGeom>
          <a:noFill/>
          <a:ln/>
        </p:spPr>
        <p:txBody>
          <a:bodyPr wrap="square" lIns="0" tIns="0" rIns="0" bIns="0" rtlCol="0" anchor="t"/>
          <a:lstStyle/>
          <a:p>
            <a:pPr marL="0" indent="0">
              <a:buNone/>
            </a:pPr>
            <a:r>
              <a:rPr lang="en-US" sz="1800" dirty="0">
                <a:solidFill>
                  <a:schemeClr val="tx1"/>
                </a:solidFill>
              </a:rPr>
              <a:t>past applicants, one row each</a:t>
            </a:r>
            <a:endParaRPr lang="en-US" sz="1800" dirty="0"/>
          </a:p>
        </p:txBody>
      </p:sp>
      <p:sp>
        <p:nvSpPr>
          <p:cNvPr id="9" name="stat 2"/>
          <p:cNvSpPr/>
          <p:nvPr/>
        </p:nvSpPr>
        <p:spPr>
          <a:xfrm>
            <a:off x="8046720" y="1371600"/>
            <a:ext cx="3566160" cy="1737360"/>
          </a:xfrm>
          <a:prstGeom prst="roundRect">
            <a:avLst>
              <a:gd name="adj" fmla="val 5263"/>
            </a:avLst>
          </a:prstGeom>
          <a:solidFill>
            <a:schemeClr val="bg2"/>
          </a:solidFill>
          <a:ln/>
        </p:spPr>
        <p:txBody>
          <a:bodyPr/>
          <a:lstStyle/>
          <a:p>
            <a:endParaRPr lang="en-US"/>
          </a:p>
        </p:txBody>
      </p:sp>
      <p:sp>
        <p:nvSpPr>
          <p:cNvPr id="10" name="Text 8"/>
          <p:cNvSpPr txBox="1"/>
          <p:nvPr/>
        </p:nvSpPr>
        <p:spPr>
          <a:xfrm>
            <a:off x="8321040" y="1508760"/>
            <a:ext cx="301752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212</a:t>
            </a:r>
            <a:endParaRPr lang="en-US" sz="4000" dirty="0"/>
          </a:p>
        </p:txBody>
      </p:sp>
      <p:sp>
        <p:nvSpPr>
          <p:cNvPr id="11" name="Text 9"/>
          <p:cNvSpPr txBox="1"/>
          <p:nvPr/>
        </p:nvSpPr>
        <p:spPr>
          <a:xfrm>
            <a:off x="8321040" y="2377440"/>
            <a:ext cx="3017520" cy="640080"/>
          </a:xfrm>
          <a:prstGeom prst="rect">
            <a:avLst/>
          </a:prstGeom>
          <a:noFill/>
          <a:ln/>
        </p:spPr>
        <p:txBody>
          <a:bodyPr wrap="square" lIns="0" tIns="0" rIns="0" bIns="0" rtlCol="0" anchor="t"/>
          <a:lstStyle/>
          <a:p>
            <a:pPr marL="0" indent="0">
              <a:buNone/>
            </a:pPr>
            <a:r>
              <a:rPr lang="en-US" sz="1800" dirty="0">
                <a:solidFill>
                  <a:schemeClr val="tx1"/>
                </a:solidFill>
              </a:rPr>
              <a:t>candidate predictors after preparation</a:t>
            </a:r>
            <a:endParaRPr lang="en-US" sz="1800" dirty="0"/>
          </a:p>
        </p:txBody>
      </p:sp>
      <p:sp>
        <p:nvSpPr>
          <p:cNvPr id="12" name="Text 10"/>
          <p:cNvSpPr txBox="1"/>
          <p:nvPr/>
        </p:nvSpPr>
        <p:spPr>
          <a:xfrm>
            <a:off x="548640" y="3429000"/>
            <a:ext cx="11064240" cy="29260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tx1"/>
                </a:solidFill>
              </a:rPr>
              <a:t>Only information available on the day of the application was used; later payments and bureau updates were excluded</a:t>
            </a:r>
            <a:endParaRPr lang="en-US" sz="1900" dirty="0"/>
          </a:p>
          <a:p>
            <a:pPr marL="342900" indent="-342900">
              <a:spcAft>
                <a:spcPts val="800"/>
              </a:spcAft>
              <a:buSzPct val="100000"/>
              <a:buChar char="•"/>
            </a:pPr>
            <a:r>
              <a:rPr lang="en-US" sz="1900" dirty="0">
                <a:solidFill>
                  <a:schemeClr val="tx1"/>
                </a:solidFill>
              </a:rPr>
              <a:t>"No history", "history not measured" and "history with no delinquency" are kept as separate states</a:t>
            </a:r>
            <a:endParaRPr lang="en-US" sz="1900" dirty="0"/>
          </a:p>
          <a:p>
            <a:pPr marL="342900" indent="-342900">
              <a:spcAft>
                <a:spcPts val="800"/>
              </a:spcAft>
              <a:buSzPct val="100000"/>
              <a:buChar char="•"/>
            </a:pPr>
            <a:r>
              <a:rPr lang="en-US" sz="1900" dirty="0">
                <a:solidFill>
                  <a:schemeClr val="tx1"/>
                </a:solidFill>
              </a:rPr>
              <a:t>Sensitive and proxy fields (gender, age, family, occupation, education, housing, region) are excluded from scoring and kept for fairness audits</a:t>
            </a:r>
            <a:endParaRPr lang="en-US" sz="1900" dirty="0"/>
          </a:p>
          <a:p>
            <a:pPr marL="342900" indent="-342900">
              <a:spcAft>
                <a:spcPts val="800"/>
              </a:spcAft>
              <a:buSzPct val="100000"/>
              <a:buChar char="•"/>
            </a:pPr>
            <a:r>
              <a:rPr lang="en-US" sz="1900" dirty="0">
                <a:solidFill>
                  <a:schemeClr val="tx1"/>
                </a:solidFill>
              </a:rPr>
              <a:t>All data-driven cleaning steps were learned within each validation fold, so test results carry no leakage</a:t>
            </a:r>
            <a:endParaRPr lang="en-US" sz="19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normAutofit fontScale="90000"/>
          </a:bodyPr>
          <a:lstStyle/>
          <a:p>
            <a:pPr marL="0" indent="0" algn="l">
              <a:buNone/>
            </a:pPr>
            <a:r>
              <a:rPr lang="en-US" sz="3200" b="1" dirty="0">
                <a:solidFill>
                  <a:schemeClr val="tx2"/>
                </a:solidFill>
                <a:latin typeface="Cambria" pitchFamily="34" charset="0"/>
                <a:ea typeface="Cambria" pitchFamily="34" charset="-122"/>
                <a:cs typeface="Cambria" pitchFamily="34" charset="-120"/>
              </a:rPr>
              <a:t>Appendix B: every model tested, same applicants, same folds</a:t>
            </a:r>
            <a:endParaRPr lang="en-US" sz="3200" dirty="0"/>
          </a:p>
        </p:txBody>
      </p:sp>
      <p:graphicFrame>
        <p:nvGraphicFramePr>
          <p:cNvPr id="13" name="model table"/>
          <p:cNvGraphicFramePr>
            <a:graphicFrameLocks noGrp="1"/>
          </p:cNvGraphicFramePr>
          <p:nvPr/>
        </p:nvGraphicFramePr>
        <p:xfrm>
          <a:off x="548640" y="1325880"/>
          <a:ext cx="11064240" cy="4587240"/>
        </p:xfrm>
        <a:graphic>
          <a:graphicData uri="http://schemas.openxmlformats.org/drawingml/2006/table">
            <a:tbl>
              <a:tblPr/>
              <a:tblGrid>
                <a:gridCol w="4206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8100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Data used</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Ranking accuracy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Outcome</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381000">
                <a:tc>
                  <a:txBody>
                    <a:bodyPr/>
                    <a:lstStyle/>
                    <a:p>
                      <a:pPr marL="0" indent="0">
                        <a:buNone/>
                      </a:pPr>
                      <a:r>
                        <a:rPr lang="en-US" sz="1800" b="1" dirty="0">
                          <a:solidFill>
                            <a:srgbClr val="0F7C80"/>
                          </a:solidFill>
                          <a:latin typeface="Calibri" pitchFamily="34" charset="0"/>
                          <a:ea typeface="Calibri" pitchFamily="34" charset="-122"/>
                          <a:cs typeface="Calibri" pitchFamily="34" charset="-120"/>
                        </a:rPr>
                        <a:t>Gradient-boosted trees, native missing values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b="1" dirty="0">
                          <a:solidFill>
                            <a:srgbClr val="0F7C80"/>
                          </a:solidFill>
                          <a:latin typeface="Calibri" pitchFamily="34" charset="0"/>
                          <a:ea typeface="Calibri" pitchFamily="34" charset="-122"/>
                          <a:cs typeface="Calibri" pitchFamily="34" charset="-120"/>
                        </a:rPr>
                        <a:t>Application + history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b="1" dirty="0">
                          <a:solidFill>
                            <a:srgbClr val="0F7C80"/>
                          </a:solidFill>
                          <a:latin typeface="Calibri" pitchFamily="34" charset="0"/>
                          <a:ea typeface="Calibri" pitchFamily="34" charset="-122"/>
                          <a:cs typeface="Calibri" pitchFamily="34" charset="-120"/>
                        </a:rPr>
                        <a:t>0.766</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b="1" dirty="0">
                          <a:solidFill>
                            <a:srgbClr val="0F7C80"/>
                          </a:solidFill>
                          <a:latin typeface="Calibri" pitchFamily="34" charset="0"/>
                          <a:ea typeface="Calibri" pitchFamily="34" charset="-122"/>
                          <a:cs typeface="Calibri" pitchFamily="34" charset="-120"/>
                        </a:rPr>
                        <a:t>Selected</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381000">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Gradient-boosted trees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Application + history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0.766</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Baseline for experiments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381000">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Gradient-boosted trees, tuned on 5K sample</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Application + history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0.762</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Gains did not transfer</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381000">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Ridge logistic regression</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Application + history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0.752</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Not advanced</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381000">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Gradient-boosted trees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Application only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0.751</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Not advanced</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r h="381000">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Ridge logistic regression</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Application only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0.745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Not advanced</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6"/>
                  </a:ext>
                </a:extLst>
              </a:tr>
              <a:tr h="381000">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Basic logistic scorecard</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12 application fields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0.733</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Benchmark</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7"/>
                  </a:ext>
                </a:extLst>
              </a:tr>
              <a:tr h="381000">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Random forest</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Application + history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0.729</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Not advanced</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8"/>
                  </a:ext>
                </a:extLst>
              </a:tr>
              <a:tr h="381000">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Always predict "no difficulty"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0.500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No-skill benchmark</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13</a:t>
            </a:fld>
            <a:endParaRPr lang="en-US"/>
          </a:p>
        </p:txBody>
      </p:sp>
      <p:sp>
        <p:nvSpPr>
          <p:cNvPr id="40" name="kaggle note"/>
          <p:cNvSpPr txBox="1"/>
          <p:nvPr/>
        </p:nvSpPr>
        <p:spPr>
          <a:xfrm>
            <a:off x="546100" y="5994400"/>
            <a:ext cx="10541000" cy="609600"/>
          </a:xfrm>
          <a:prstGeom prst="rect">
            <a:avLst/>
          </a:prstGeom>
          <a:noFill/>
        </p:spPr>
        <p:txBody>
          <a:bodyPr wrap="square" lIns="0" tIns="0" rIns="0" bIns="0" anchor="t"/>
          <a:lstStyle/>
          <a:p>
            <a:r>
              <a:rPr lang="en-US" sz="1800" b="1" dirty="0">
                <a:solidFill>
                  <a:srgbClr val="1F2933"/>
                </a:solidFill>
              </a:rPr>
              <a:t>Unseen-data check: </a:t>
            </a:r>
            <a:r>
              <a:rPr lang="en-US" sz="1800" dirty="0">
                <a:solidFill>
                  <a:srgbClr val="3E4C59"/>
                </a:solidFill>
              </a:rPr>
              <a:t> 0.762 public and 0.758 private on Kaggle’s held-out test set, in line with the 0.766 cross-validated result.</a:t>
            </a:r>
          </a:p>
        </p:txBody>
      </p:sp>
    </p:spTree>
    <p:extLst>
      <p:ext uri="{BB962C8B-B14F-4D97-AF65-F5344CB8AC3E}">
        <p14:creationId xmlns:p14="http://schemas.microsoft.com/office/powerpoint/2010/main" val="4235338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Appendix C: what did not improve the model</a:t>
            </a:r>
            <a:endParaRPr lang="en-US" sz="3200" dirty="0"/>
          </a:p>
        </p:txBody>
      </p:sp>
      <p:graphicFrame>
        <p:nvGraphicFramePr>
          <p:cNvPr id="3" name="experiment chart"/>
          <p:cNvGraphicFramePr/>
          <p:nvPr/>
        </p:nvGraphicFramePr>
        <p:xfrm>
          <a:off x="548640" y="137160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experiment card"/>
          <p:cNvSpPr/>
          <p:nvPr/>
        </p:nvSpPr>
        <p:spPr>
          <a:xfrm>
            <a:off x="7863840" y="1463040"/>
            <a:ext cx="3749040" cy="4663440"/>
          </a:xfrm>
          <a:prstGeom prst="roundRect">
            <a:avLst>
              <a:gd name="adj" fmla="val 2439"/>
            </a:avLst>
          </a:prstGeom>
          <a:solidFill>
            <a:schemeClr val="bg2"/>
          </a:solidFill>
          <a:ln/>
        </p:spPr>
        <p:txBody>
          <a:bodyPr/>
          <a:lstStyle/>
          <a:p>
            <a:endParaRPr lang="en-US"/>
          </a:p>
        </p:txBody>
      </p:sp>
      <p:sp>
        <p:nvSpPr>
          <p:cNvPr id="5" name="Text 2"/>
          <p:cNvSpPr txBox="1"/>
          <p:nvPr/>
        </p:nvSpPr>
        <p:spPr>
          <a:xfrm>
            <a:off x="8092440" y="1691640"/>
            <a:ext cx="3337560" cy="42976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tx1"/>
                </a:solidFill>
              </a:rPr>
              <a:t>Rebalancing the rare 8% cases lowered accuracy, so the natural mix was kept</a:t>
            </a:r>
            <a:endParaRPr lang="en-US" sz="1900" dirty="0"/>
          </a:p>
          <a:p>
            <a:pPr marL="342900" indent="-342900">
              <a:spcAft>
                <a:spcPts val="1000"/>
              </a:spcAft>
              <a:buSzPct val="100000"/>
              <a:buChar char="•"/>
            </a:pPr>
            <a:r>
              <a:rPr lang="en-US" sz="1900" dirty="0">
                <a:solidFill>
                  <a:schemeClr val="tx1"/>
                </a:solidFill>
              </a:rPr>
              <a:t>Parameters tuned on a 5,000-applicant sample did not hold up on the full data</a:t>
            </a:r>
            <a:endParaRPr lang="en-US" sz="1900" dirty="0"/>
          </a:p>
          <a:p>
            <a:pPr marL="342900" indent="-342900">
              <a:spcAft>
                <a:spcPts val="1000"/>
              </a:spcAft>
              <a:buSzPct val="100000"/>
              <a:buChar char="•"/>
            </a:pPr>
            <a:r>
              <a:rPr lang="en-US" sz="1900" dirty="0">
                <a:solidFill>
                  <a:schemeClr val="tx1"/>
                </a:solidFill>
              </a:rPr>
              <a:t>Predicted vs. actual: 8.03% vs. 8.07% overall; matched within 1 point in every decile</a:t>
            </a:r>
            <a:endParaRPr lang="en-US" sz="19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Appendix D: fairness check across groups</a:t>
            </a:r>
            <a:endParaRPr lang="en-US" sz="3200" dirty="0"/>
          </a:p>
        </p:txBody>
      </p:sp>
      <p:graphicFrame>
        <p:nvGraphicFramePr>
          <p:cNvPr id="15" name="fairness table"/>
          <p:cNvGraphicFramePr>
            <a:graphicFrameLocks noGrp="1"/>
          </p:cNvGraphicFramePr>
          <p:nvPr/>
        </p:nvGraphicFramePr>
        <p:xfrm>
          <a:off x="548640" y="1325880"/>
          <a:ext cx="11064240" cy="4626864"/>
        </p:xfrm>
        <a:graphic>
          <a:graphicData uri="http://schemas.openxmlformats.org/drawingml/2006/table">
            <a:tbl>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20624">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Group</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Applicants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Actual rate</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Predicted rate</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Ranking accuracy</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Women</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202,448</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7.0%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7.5%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0.765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Men</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105,059</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10.1%</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9.0%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0.760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800" b="1" dirty="0">
                          <a:solidFill>
                            <a:srgbClr val="B83227"/>
                          </a:solidFill>
                          <a:latin typeface="Calibri" pitchFamily="34" charset="0"/>
                          <a:ea typeface="Calibri" pitchFamily="34" charset="-122"/>
                          <a:cs typeface="Calibri" pitchFamily="34" charset="-120"/>
                        </a:rPr>
                        <a:t>Under 25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8,322</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12.9%</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14.5%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b="1" dirty="0">
                          <a:solidFill>
                            <a:srgbClr val="B83227"/>
                          </a:solidFill>
                          <a:latin typeface="Calibri" pitchFamily="34" charset="0"/>
                          <a:ea typeface="Calibri" pitchFamily="34" charset="-122"/>
                          <a:cs typeface="Calibri" pitchFamily="34" charset="-120"/>
                        </a:rPr>
                        <a:t>0.715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25–34</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68,676</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10.8%</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11.0%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0.753</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35–44</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84,144</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8.6%</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8.0%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0.773</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45–54</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70,355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7.3%</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7.1%</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0.763</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6"/>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55–64</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62,994</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5.5%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5.8%</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0.735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65+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13,020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4.3%</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4.3%</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0.735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8"/>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Cash loans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278,232</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8.4%</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8.3%</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0.765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Revolving loans</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29,279</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5.5%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5.5%</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800" dirty="0">
                          <a:solidFill>
                            <a:srgbClr val="1F2933"/>
                          </a:solidFill>
                          <a:latin typeface="Calibri" pitchFamily="34" charset="0"/>
                          <a:ea typeface="Calibri" pitchFamily="34" charset="-122"/>
                          <a:cs typeface="Calibri" pitchFamily="34" charset="-120"/>
                        </a:rPr>
                        <a:t>0.760</a:t>
                      </a:r>
                      <a:endParaRPr lang="en-US" sz="18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Appendix E: credit history and risk</a:t>
            </a:r>
            <a:endParaRPr lang="en-US" sz="3200" dirty="0"/>
          </a:p>
        </p:txBody>
      </p:sp>
      <p:graphicFrame>
        <p:nvGraphicFramePr>
          <p:cNvPr id="3" name="experiment chart"/>
          <p:cNvGraphicFramePr/>
          <p:nvPr/>
        </p:nvGraphicFramePr>
        <p:xfrm>
          <a:off x="548640" y="137160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experiment card"/>
          <p:cNvSpPr/>
          <p:nvPr/>
        </p:nvSpPr>
        <p:spPr>
          <a:xfrm>
            <a:off x="7863840" y="1463040"/>
            <a:ext cx="3749040" cy="4663440"/>
          </a:xfrm>
          <a:prstGeom prst="roundRect">
            <a:avLst>
              <a:gd name="adj" fmla="val 2439"/>
            </a:avLst>
          </a:prstGeom>
          <a:solidFill>
            <a:schemeClr val="bg2"/>
          </a:solidFill>
          <a:ln/>
        </p:spPr>
        <p:txBody>
          <a:bodyPr/>
          <a:lstStyle/>
          <a:p>
            <a:endParaRPr lang="en-US"/>
          </a:p>
        </p:txBody>
      </p:sp>
      <p:sp>
        <p:nvSpPr>
          <p:cNvPr id="5" name="Text 2"/>
          <p:cNvSpPr txBox="1"/>
          <p:nvPr/>
        </p:nvSpPr>
        <p:spPr>
          <a:xfrm>
            <a:off x="8092440" y="1691640"/>
            <a:ext cx="3337560" cy="381000"/>
          </a:xfrm>
          <a:prstGeom prst="rect">
            <a:avLst/>
          </a:prstGeom>
          <a:noFill/>
          <a:ln/>
        </p:spPr>
        <p:txBody>
          <a:bodyPr wrap="square" lIns="0" tIns="0" rIns="0" bIns="0" rtlCol="0" anchor="t"/>
          <a:lstStyle/>
          <a:p>
            <a:pPr marL="0" indent="0">
              <a:buNone/>
            </a:pPr>
            <a:r>
              <a:rPr lang="en-US" sz="1800" b="1" dirty="0">
                <a:solidFill>
                  <a:schemeClr val="tx1"/>
                </a:solidFill>
              </a:rPr>
              <a:t>Ranking accuracy by bureau status</a:t>
            </a:r>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4"/>
                </a:solidFill>
              </a:defRPr>
            </a:lvl1pPr>
          </a:lstStyle>
          <a:p>
            <a:pPr algn="r"/>
            <a:fld id="{F7021451-1387-4CA6-816F-3879F97B5CBC}" type="slidenum">
              <a:rPr lang="en-US" b="0"/>
              <a:t>16</a:t>
            </a:fld>
            <a:endParaRPr lang="en-US"/>
          </a:p>
        </p:txBody>
      </p:sp>
      <p:sp>
        <p:nvSpPr>
          <p:cNvPr id="60" name="Caveat"/>
          <p:cNvSpPr txBox="1"/>
          <p:nvPr/>
        </p:nvSpPr>
        <p:spPr>
          <a:xfrm>
            <a:off x="8089900" y="4470400"/>
            <a:ext cx="3340100" cy="1397000"/>
          </a:xfrm>
          <a:prstGeom prst="rect">
            <a:avLst/>
          </a:prstGeom>
          <a:noFill/>
        </p:spPr>
        <p:txBody>
          <a:bodyPr wrap="square" lIns="0" tIns="0" rIns="0" bIns="0" rtlCol="0" anchor="t"/>
          <a:lstStyle/>
          <a:p>
            <a:r>
              <a:rPr lang="en-US" sz="1800" i="1" dirty="0">
                <a:solidFill>
                  <a:srgbClr val="5F6B78"/>
                </a:solidFill>
              </a:rPr>
              <a:t>Caveat: the no-history group is small (about 2,200 applicants), so treat 7.1% and 0.818 as directional.</a:t>
            </a:r>
          </a:p>
        </p:txBody>
      </p:sp>
      <p:graphicFrame>
        <p:nvGraphicFramePr>
          <p:cNvPr id="7" name="Accuracy table">
            <a:extLst>
              <a:ext uri="{FF2B5EF4-FFF2-40B4-BE49-F238E27FC236}">
                <a16:creationId xmlns:a16="http://schemas.microsoft.com/office/drawing/2014/main" id="{47AEB5E0-45E9-41C5-A88C-9634CCDD7264}"/>
              </a:ext>
            </a:extLst>
          </p:cNvPr>
          <p:cNvGraphicFramePr>
            <a:graphicFrameLocks noGrp="1"/>
          </p:cNvGraphicFramePr>
          <p:nvPr/>
        </p:nvGraphicFramePr>
        <p:xfrm>
          <a:off x="8089900" y="2387600"/>
          <a:ext cx="3340100" cy="1915160"/>
        </p:xfrm>
        <a:graphic>
          <a:graphicData uri="http://schemas.openxmlformats.org/drawingml/2006/table">
            <a:tbl>
              <a:tblPr/>
              <a:tblGrid>
                <a:gridCol w="2451100">
                  <a:extLst>
                    <a:ext uri="{9D8B030D-6E8A-4147-A177-3AD203B41FA5}">
                      <a16:colId xmlns:a16="http://schemas.microsoft.com/office/drawing/2014/main" val="3946041333"/>
                    </a:ext>
                  </a:extLst>
                </a:gridCol>
                <a:gridCol w="889000">
                  <a:extLst>
                    <a:ext uri="{9D8B030D-6E8A-4147-A177-3AD203B41FA5}">
                      <a16:colId xmlns:a16="http://schemas.microsoft.com/office/drawing/2014/main" val="2858507681"/>
                    </a:ext>
                  </a:extLst>
                </a:gridCol>
              </a:tblGrid>
              <a:tr h="635000">
                <a:tc>
                  <a:txBody>
                    <a:bodyPr/>
                    <a:lstStyle/>
                    <a:p>
                      <a:pPr algn="l"/>
                      <a:r>
                        <a:rPr lang="en-US" sz="1800" b="0">
                          <a:solidFill>
                            <a:srgbClr val="1F2933"/>
                          </a:solidFill>
                        </a:rPr>
                        <a:t>With a bureau record</a:t>
                      </a:r>
                    </a:p>
                  </a:txBody>
                  <a:tcPr marL="0" marR="0" anchor="ctr">
                    <a:lnL w="0">
                      <a:noFill/>
                    </a:lnL>
                    <a:lnR w="0">
                      <a:noFill/>
                    </a:lnR>
                    <a:lnT w="9525">
                      <a:solidFill>
                        <a:srgbClr val="C9D1D9"/>
                      </a:solidFill>
                    </a:lnT>
                    <a:lnB w="9525">
                      <a:solidFill>
                        <a:srgbClr val="C9D1D9"/>
                      </a:solidFill>
                    </a:lnB>
                    <a:noFill/>
                  </a:tcPr>
                </a:tc>
                <a:tc>
                  <a:txBody>
                    <a:bodyPr/>
                    <a:lstStyle/>
                    <a:p>
                      <a:pPr algn="r"/>
                      <a:r>
                        <a:rPr lang="en-US" sz="1800" b="1">
                          <a:solidFill>
                            <a:srgbClr val="1F2933"/>
                          </a:solidFill>
                        </a:rPr>
                        <a:t>0.767</a:t>
                      </a:r>
                    </a:p>
                  </a:txBody>
                  <a:tcPr marL="0" marR="0" anchor="ctr">
                    <a:lnL w="0">
                      <a:noFill/>
                    </a:lnL>
                    <a:lnR w="0">
                      <a:noFill/>
                    </a:lnR>
                    <a:lnT w="9525">
                      <a:solidFill>
                        <a:srgbClr val="C9D1D9"/>
                      </a:solidFill>
                    </a:lnT>
                    <a:lnB w="9525">
                      <a:solidFill>
                        <a:srgbClr val="C9D1D9"/>
                      </a:solidFill>
                    </a:lnB>
                    <a:noFill/>
                  </a:tcPr>
                </a:tc>
                <a:extLst>
                  <a:ext uri="{0D108BD9-81ED-4DB2-BD59-A6C34878D82A}">
                    <a16:rowId xmlns:a16="http://schemas.microsoft.com/office/drawing/2014/main" val="349310187"/>
                  </a:ext>
                </a:extLst>
              </a:tr>
              <a:tr h="635000">
                <a:tc>
                  <a:txBody>
                    <a:bodyPr/>
                    <a:lstStyle/>
                    <a:p>
                      <a:pPr algn="l"/>
                      <a:r>
                        <a:rPr lang="en-US" sz="1800" b="0">
                          <a:solidFill>
                            <a:srgbClr val="1F2933"/>
                          </a:solidFill>
                        </a:rPr>
                        <a:t>No bureau record (44,021)</a:t>
                      </a:r>
                    </a:p>
                  </a:txBody>
                  <a:tcPr marL="0" marR="0" anchor="ctr">
                    <a:lnL w="0">
                      <a:noFill/>
                    </a:lnL>
                    <a:lnR w="0">
                      <a:noFill/>
                    </a:lnR>
                    <a:lnT w="9525" cap="flat" cmpd="sng" algn="ctr">
                      <a:solidFill>
                        <a:srgbClr val="C9D1D9"/>
                      </a:solidFill>
                      <a:prstDash val="solid"/>
                      <a:round/>
                      <a:headEnd type="none" w="med" len="med"/>
                      <a:tailEnd type="none" w="med" len="med"/>
                    </a:lnT>
                    <a:lnB w="9525">
                      <a:solidFill>
                        <a:srgbClr val="C9D1D9"/>
                      </a:solidFill>
                    </a:lnB>
                    <a:noFill/>
                  </a:tcPr>
                </a:tc>
                <a:tc>
                  <a:txBody>
                    <a:bodyPr/>
                    <a:lstStyle/>
                    <a:p>
                      <a:pPr algn="r"/>
                      <a:r>
                        <a:rPr lang="en-US" sz="1800" b="1">
                          <a:solidFill>
                            <a:srgbClr val="1F2933"/>
                          </a:solidFill>
                        </a:rPr>
                        <a:t>0.753</a:t>
                      </a:r>
                    </a:p>
                  </a:txBody>
                  <a:tcPr marL="0" marR="0" anchor="ctr">
                    <a:lnL w="0">
                      <a:noFill/>
                    </a:lnL>
                    <a:lnR w="0">
                      <a:noFill/>
                    </a:lnR>
                    <a:lnT w="9525" cap="flat" cmpd="sng" algn="ctr">
                      <a:solidFill>
                        <a:srgbClr val="C9D1D9"/>
                      </a:solidFill>
                      <a:prstDash val="solid"/>
                      <a:round/>
                      <a:headEnd type="none" w="med" len="med"/>
                      <a:tailEnd type="none" w="med" len="med"/>
                    </a:lnT>
                    <a:lnB w="9525">
                      <a:solidFill>
                        <a:srgbClr val="C9D1D9"/>
                      </a:solidFill>
                    </a:lnB>
                    <a:noFill/>
                  </a:tcPr>
                </a:tc>
                <a:extLst>
                  <a:ext uri="{0D108BD9-81ED-4DB2-BD59-A6C34878D82A}">
                    <a16:rowId xmlns:a16="http://schemas.microsoft.com/office/drawing/2014/main" val="3267878583"/>
                  </a:ext>
                </a:extLst>
              </a:tr>
              <a:tr h="635000">
                <a:tc>
                  <a:txBody>
                    <a:bodyPr/>
                    <a:lstStyle/>
                    <a:p>
                      <a:pPr algn="l"/>
                      <a:r>
                        <a:rPr lang="en-US" sz="1800" b="0">
                          <a:solidFill>
                            <a:srgbClr val="1F2933"/>
                          </a:solidFill>
                        </a:rPr>
                        <a:t>No history anywhere (~2,200)</a:t>
                      </a:r>
                    </a:p>
                  </a:txBody>
                  <a:tcPr marL="0" marR="0" anchor="ctr">
                    <a:lnL w="0">
                      <a:noFill/>
                    </a:lnL>
                    <a:lnR w="0">
                      <a:noFill/>
                    </a:lnR>
                    <a:lnT w="9525" cap="flat" cmpd="sng" algn="ctr">
                      <a:solidFill>
                        <a:srgbClr val="C9D1D9"/>
                      </a:solidFill>
                      <a:prstDash val="solid"/>
                      <a:round/>
                      <a:headEnd type="none" w="med" len="med"/>
                      <a:tailEnd type="none" w="med" len="med"/>
                    </a:lnT>
                    <a:lnB w="9525">
                      <a:solidFill>
                        <a:srgbClr val="C9D1D9"/>
                      </a:solidFill>
                    </a:lnB>
                    <a:noFill/>
                  </a:tcPr>
                </a:tc>
                <a:tc>
                  <a:txBody>
                    <a:bodyPr/>
                    <a:lstStyle/>
                    <a:p>
                      <a:pPr algn="r"/>
                      <a:r>
                        <a:rPr lang="en-US" sz="1800" b="1">
                          <a:solidFill>
                            <a:srgbClr val="1F2933"/>
                          </a:solidFill>
                        </a:rPr>
                        <a:t>0.818</a:t>
                      </a:r>
                    </a:p>
                  </a:txBody>
                  <a:tcPr marL="0" marR="0" anchor="ctr">
                    <a:lnL w="0">
                      <a:noFill/>
                    </a:lnL>
                    <a:lnR w="0">
                      <a:noFill/>
                    </a:lnR>
                    <a:lnT w="9525" cap="flat" cmpd="sng" algn="ctr">
                      <a:solidFill>
                        <a:srgbClr val="C9D1D9"/>
                      </a:solidFill>
                      <a:prstDash val="solid"/>
                      <a:round/>
                      <a:headEnd type="none" w="med" len="med"/>
                      <a:tailEnd type="none" w="med" len="med"/>
                    </a:lnT>
                    <a:lnB w="9525">
                      <a:solidFill>
                        <a:srgbClr val="C9D1D9"/>
                      </a:solidFill>
                    </a:lnB>
                    <a:noFill/>
                  </a:tcPr>
                </a:tc>
                <a:extLst>
                  <a:ext uri="{0D108BD9-81ED-4DB2-BD59-A6C34878D82A}">
                    <a16:rowId xmlns:a16="http://schemas.microsoft.com/office/drawing/2014/main" val="1609383836"/>
                  </a:ext>
                </a:extLst>
              </a:tr>
            </a:tbl>
          </a:graphicData>
        </a:graphic>
      </p:graphicFrame>
    </p:spTree>
    <p:extLst>
      <p:ext uri="{BB962C8B-B14F-4D97-AF65-F5344CB8AC3E}">
        <p14:creationId xmlns:p14="http://schemas.microsoft.com/office/powerpoint/2010/main" val="1286400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A1AE8E8-90AF-4AF4-8FBF-03F302EB1A8A}">
  <we:reference id="wa200010725" version="1.0.0.1" store="en-US" storeType="OMEX"/>
  <we:alternateReferences>
    <we:reference id="WA200010725" version="1.0.0.1" store="" storeType="OMEX"/>
  </we:alternateReferences>
  <we:properties>
    <we:property name="claude.fileId" value="&quot;2df9e22b-bb6e-4737-9add-a41d36e4460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711</TotalTime>
  <Words>2784</Words>
  <Application>Microsoft Office PowerPoint</Application>
  <PresentationFormat>Widescreen</PresentationFormat>
  <Paragraphs>360</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Cambria</vt:lpstr>
      <vt:lpstr>Office Theme</vt:lpstr>
      <vt:lpstr>PowerPoint Presentation</vt:lpstr>
      <vt:lpstr>Using traditional and alternative information to predict payment risk</vt:lpstr>
      <vt:lpstr>1 in 7 applicants has no bureau record, so traditional scoring can’t see them</vt:lpstr>
      <vt:lpstr>Repayment history separates good borrowers from risky ones</vt:lpstr>
      <vt:lpstr>Traditional plus alternative data gives the sharpest score</vt:lpstr>
      <vt:lpstr>Credit scores and repayment history drive two-thirds of the score</vt:lpstr>
      <vt:lpstr>The score works almost as well without a bureau record</vt:lpstr>
      <vt:lpstr>Risk clusters: the riskiest 10% hold 35% of payment problems</vt:lpstr>
      <vt:lpstr>Reviewing the riskiest 10% pays for itself</vt:lpstr>
      <vt:lpstr>A 90-day shadow pilot tests growth before we commit</vt:lpstr>
      <vt:lpstr>Questions</vt:lpstr>
      <vt:lpstr>Appendix A: data foundation</vt:lpstr>
      <vt:lpstr>Appendix B: every model tested, same applicants, same folds</vt:lpstr>
      <vt:lpstr>Appendix C: what did not improve the model</vt:lpstr>
      <vt:lpstr>Appendix D: fairness check across groups</vt:lpstr>
      <vt:lpstr>Appendix E: credit history and risk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Alejo Sanchez</dc:creator>
  <cp:lastModifiedBy>Alejo Sanchez</cp:lastModifiedBy>
  <cp:revision>21</cp:revision>
  <dcterms:created xsi:type="dcterms:W3CDTF">2026-10-12T17:55:56Z</dcterms:created>
  <dcterms:modified xsi:type="dcterms:W3CDTF">2026-10-17T15:59:24Z</dcterms:modified>
</cp:coreProperties>
</file>